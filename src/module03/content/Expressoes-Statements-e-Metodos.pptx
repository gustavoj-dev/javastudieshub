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73" autoAdjust="0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108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356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822960"/>
            <a:ext cx="2103120" cy="2103120"/>
          </a:xfrm>
          <a:prstGeom prst="rect">
            <a:avLst/>
          </a:prstGeom>
          <a:solidFill>
            <a:srgbClr val="16A34A">
              <a:alpha val="8000"/>
            </a:srgbClr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3760" y="1188720"/>
            <a:ext cx="1645920" cy="1645920"/>
          </a:xfrm>
          <a:prstGeom prst="rect">
            <a:avLst/>
          </a:prstGeom>
          <a:solidFill>
            <a:srgbClr val="16A34A">
              <a:alpha val="20000"/>
            </a:srgbClr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589520" y="1554480"/>
            <a:ext cx="1097280" cy="1097280"/>
          </a:xfrm>
          <a:prstGeom prst="rect">
            <a:avLst/>
          </a:prstGeom>
          <a:solidFill>
            <a:srgbClr val="16A34A">
              <a:alpha val="40000"/>
            </a:srgbClr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420624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0624" y="777240"/>
            <a:ext cx="6583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420624" y="1536192"/>
            <a:ext cx="6583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420624" y="2304288"/>
            <a:ext cx="6583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Métodos em Java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420624" y="3035808"/>
            <a:ext cx="5029200" cy="3657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" y="3145536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de código • Métodos • Parâmetros • Retorno • Sobrecarga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20624" y="352958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conceito de método até sobrecarga e desafios práticos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20624" y="3931920"/>
            <a:ext cx="1645920" cy="274320"/>
          </a:xfrm>
          <a:prstGeom prst="roundRect">
            <a:avLst/>
          </a:prstGeom>
          <a:solidFill>
            <a:srgbClr val="16A34A">
              <a:alpha val="28000"/>
            </a:srgbClr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" y="3931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157984" y="3931920"/>
            <a:ext cx="1645920" cy="274320"/>
          </a:xfrm>
          <a:prstGeom prst="roundRect">
            <a:avLst/>
          </a:prstGeom>
          <a:solidFill>
            <a:srgbClr val="16A34A">
              <a:alpha val="28000"/>
            </a:srgbClr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57984" y="3931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895344" y="3931920"/>
            <a:ext cx="1645920" cy="274320"/>
          </a:xfrm>
          <a:prstGeom prst="roundRect">
            <a:avLst/>
          </a:prstGeom>
          <a:solidFill>
            <a:srgbClr val="16A34A">
              <a:alpha val="28000"/>
            </a:srgbClr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95344" y="3931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Whitespace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32704" y="3931920"/>
            <a:ext cx="1645920" cy="274320"/>
          </a:xfrm>
          <a:prstGeom prst="roundRect">
            <a:avLst/>
          </a:prstGeom>
          <a:solidFill>
            <a:srgbClr val="16A34A">
              <a:alpha val="28000"/>
            </a:srgbClr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32704" y="3931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70064" y="3931920"/>
            <a:ext cx="1645920" cy="274320"/>
          </a:xfrm>
          <a:prstGeom prst="roundRect">
            <a:avLst/>
          </a:prstGeom>
          <a:solidFill>
            <a:srgbClr val="16A34A">
              <a:alpha val="28000"/>
            </a:srgbClr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70064" y="3931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0624" y="4261104"/>
            <a:ext cx="1645920" cy="274320"/>
          </a:xfrm>
          <a:prstGeom prst="roundRect">
            <a:avLst/>
          </a:prstGeom>
          <a:solidFill>
            <a:srgbClr val="16A34A">
              <a:alpha val="28000"/>
            </a:srgbClr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0624" y="42611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157984" y="4261104"/>
            <a:ext cx="1645920" cy="274320"/>
          </a:xfrm>
          <a:prstGeom prst="roundRect">
            <a:avLst/>
          </a:prstGeom>
          <a:solidFill>
            <a:srgbClr val="16A34A">
              <a:alpha val="28000"/>
            </a:srgbClr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157984" y="42611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if-then-else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895344" y="4261104"/>
            <a:ext cx="1645920" cy="274320"/>
          </a:xfrm>
          <a:prstGeom prst="roundRect">
            <a:avLst/>
          </a:prstGeom>
          <a:solidFill>
            <a:srgbClr val="16A34A">
              <a:alpha val="28000"/>
            </a:srgbClr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95344" y="42611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Sobrecarga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32704" y="4261104"/>
            <a:ext cx="1645920" cy="274320"/>
          </a:xfrm>
          <a:prstGeom prst="roundRect">
            <a:avLst/>
          </a:prstGeom>
          <a:solidFill>
            <a:srgbClr val="16A34A">
              <a:alpha val="28000"/>
            </a:srgbClr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32704" y="42611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370064" y="4261104"/>
            <a:ext cx="1645920" cy="274320"/>
          </a:xfrm>
          <a:prstGeom prst="roundRect">
            <a:avLst/>
          </a:prstGeom>
          <a:solidFill>
            <a:srgbClr val="16A34A">
              <a:alpha val="28000"/>
            </a:srgbClr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70064" y="42611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 de Aprendizado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19456" y="1097280"/>
            <a:ext cx="502920" cy="3931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9456" y="1097280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9536" y="11155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de Código Java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9536" y="1335024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statements, blocos de código, whitespace e indentação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9456" y="1641348"/>
            <a:ext cx="502920" cy="3931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9456" y="1641348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59536" y="16596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aos Métodos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9536" y="187909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são métodos, benefícios, estrutura básica, parâmetros vs. argumentos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9456" y="2185416"/>
            <a:ext cx="502920" cy="3931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9456" y="2185416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59536" y="220370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e Recap de Métodos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9536" y="2423160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retorno, instrução return, void, assinatura do método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19456" y="2729484"/>
            <a:ext cx="502920" cy="3931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9456" y="2729484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59536" y="274777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if-then-else Completo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59536" y="2967228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if/else/else-if, blocos de código, desafio de pontuação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19456" y="3273552"/>
            <a:ext cx="502920" cy="3931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9456" y="3273552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59536" y="329184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Sobrecarga de Métodos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59536" y="3511296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overloading, assinatura, regras de validade, exemplos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19456" y="3817620"/>
            <a:ext cx="502920" cy="3931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19456" y="3817620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59536" y="383590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Desafios Práticos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59536" y="4055364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Score, Segundos/Minutos, conversão de altura, validação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19456" y="4361688"/>
            <a:ext cx="502920" cy="3931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9456" y="4361688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59536" y="43799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Exercícios de Código e Boas Práticas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59536" y="459943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exercises, organização, convenções de código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2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0"/>
            <a:ext cx="1280160" cy="5143500"/>
          </a:xfrm>
          <a:prstGeom prst="rect">
            <a:avLst/>
          </a:prstGeom>
          <a:solidFill>
            <a:srgbClr val="16A34A">
              <a:alpha val="7000"/>
            </a:srgbClr>
          </a:solidFill>
          <a:ln w="381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9144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47472" y="23317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20240" y="1234440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de Código Java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920240" y="2743200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statements, blocos, whitespace e indentação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" y="47091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0"/>
            <a:ext cx="457200" cy="960120"/>
          </a:xfrm>
          <a:prstGeom prst="rect">
            <a:avLst/>
          </a:prstGeom>
          <a:solidFill>
            <a:srgbClr val="16A34A">
              <a:alpha val="12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Unidades de Código em Java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10896" y="1115568"/>
            <a:ext cx="8503920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código é como escrever um documento — ele tem unidades hierárquicas.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0896" y="1773936"/>
            <a:ext cx="8503920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Expressão: computa e retorna um único valor.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2116287"/>
            <a:ext cx="822960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Exemplos: 2 + 3, idade &gt;= 18, "Olá" + nome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0896" y="2432304"/>
            <a:ext cx="8503920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Statement: unidade de trabalho independente e completa.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8368" y="2774655"/>
            <a:ext cx="822960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statement termina com ; (ponto e vírgula)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0896" y="3090672"/>
            <a:ext cx="8503920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de código: conjunto de zero ou mais statements agrupados para um objetivo.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" y="3433023"/>
            <a:ext cx="822960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Delimitado por chaves { } — usado em métodos, if, for, while...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3703320"/>
            <a:ext cx="8631936" cy="579364"/>
          </a:xfrm>
          <a:prstGeom prst="rect">
            <a:avLst/>
          </a:prstGeom>
          <a:solidFill>
            <a:srgbClr val="0D9488">
              <a:alpha val="17000"/>
            </a:srgbClr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739896"/>
            <a:ext cx="8412480" cy="539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Hierarquia: expressões formam statements; statements se agrupam em blocos; blocos formam métodos; métodos formam classes.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0"/>
            <a:ext cx="457200" cy="960120"/>
          </a:xfrm>
          <a:prstGeom prst="rect">
            <a:avLst/>
          </a:prstGeom>
          <a:solidFill>
            <a:srgbClr val="16A34A">
              <a:alpha val="12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 — o que são?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10896" y="11155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expressão é um trecho de código que computa e retorna um valor único.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6032" y="15270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" y="15636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Expressões literais: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6032" y="19842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0208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          // valor inteiro literal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6032" y="24414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" y="24780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"Hello"     // valor String literal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56032" y="28986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29352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        // valor boolean literal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56032" y="33558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" y="33924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56032" y="38130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0624" y="38496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Expressões compostas: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56032" y="42702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0624" y="43068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+ 3 * 4   // expressão aritmética → retorna 14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56032" y="47274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0624" y="47640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idade &gt;= 18  // expressão relacional → retorna true ou false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56032" y="51846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0624" y="52212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nome.length() // chamada de método → retorna um int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56032" y="5641848"/>
            <a:ext cx="8631936" cy="402336"/>
          </a:xfrm>
          <a:prstGeom prst="rect">
            <a:avLst/>
          </a:prstGeom>
          <a:solidFill>
            <a:srgbClr val="0D9488">
              <a:alpha val="17000"/>
            </a:srgbClr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5678424"/>
            <a:ext cx="84124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Uma expressão SEMPRE produz um valor. Esse valor pode ser usado em atribuições, condições ou argumentos de método.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0"/>
            <a:ext cx="457200" cy="960120"/>
          </a:xfrm>
          <a:prstGeom prst="rect">
            <a:avLst/>
          </a:prstGeom>
          <a:solidFill>
            <a:srgbClr val="16A34A">
              <a:alpha val="12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e Whitespace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10896" y="1115568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são comandos completos — as instruções do programa.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6032" y="1545336"/>
            <a:ext cx="8631936" cy="418429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" y="1581912"/>
            <a:ext cx="837590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x = 5;                    // declaration statement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6032" y="2020824"/>
            <a:ext cx="8631936" cy="418429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057400"/>
            <a:ext cx="837590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x + 1;                    // expression statement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6032" y="2496312"/>
            <a:ext cx="8631936" cy="418429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" y="2532888"/>
            <a:ext cx="837590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System.out.println("Olá");    // method call statement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0896" y="3017520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Whitespace: espaços, tabs e linhas em branco — ignorados pelo compilador Java.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56032" y="3447288"/>
            <a:ext cx="8631936" cy="418429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" y="3483864"/>
            <a:ext cx="837590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Para o compilador, estas duas formas são idênticas: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56032" y="3922776"/>
            <a:ext cx="8631936" cy="418429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" y="3959352"/>
            <a:ext cx="837590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x=5;System.out.println(x);  // sem espaços (válido, mas ilegível)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6032" y="4398264"/>
            <a:ext cx="8631936" cy="418429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0624" y="4434840"/>
            <a:ext cx="837590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56032" y="4873752"/>
            <a:ext cx="8631936" cy="418429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0624" y="4910328"/>
            <a:ext cx="837590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x = 5;                       // com espaços (legível!)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56032" y="5349240"/>
            <a:ext cx="8631936" cy="418429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0624" y="5385816"/>
            <a:ext cx="837590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System.out.println(x);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56032" y="5824728"/>
            <a:ext cx="8631936" cy="418429"/>
          </a:xfrm>
          <a:prstGeom prst="rect">
            <a:avLst/>
          </a:prstGeom>
          <a:solidFill>
            <a:srgbClr val="16A34A">
              <a:alpha val="17000"/>
            </a:srgbClr>
          </a:solidFill>
          <a:ln w="7620">
            <a:solidFill>
              <a:srgbClr val="16A3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5861304"/>
            <a:ext cx="8412480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Use whitespace generosamente para legibilidade — siga o Google Java Style Guide!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2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0"/>
            <a:ext cx="1280160" cy="5143500"/>
          </a:xfrm>
          <a:prstGeom prst="rect">
            <a:avLst/>
          </a:prstGeom>
          <a:solidFill>
            <a:srgbClr val="16A34A">
              <a:alpha val="7000"/>
            </a:srgbClr>
          </a:solidFill>
          <a:ln w="381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9144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47472" y="23317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20240" y="1234440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aos Métodos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920240" y="2743200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são, por que usar, estrutura básica e parâmetros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" y="47091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0"/>
            <a:ext cx="457200" cy="960120"/>
          </a:xfrm>
          <a:prstGeom prst="rect">
            <a:avLst/>
          </a:prstGeom>
          <a:solidFill>
            <a:srgbClr val="16A34A">
              <a:alpha val="12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 Método?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10896" y="1115568"/>
            <a:ext cx="8503920" cy="575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oficial do Java: "Um método declara código executável que pode ser invocado, passando um número fixo de valores como argumentos."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0896" y="1792224"/>
            <a:ext cx="8503920" cy="575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prática: método é uma forma de AGRUPAR código para evitar repetição.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0896" y="2468880"/>
            <a:ext cx="8503920" cy="575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método pode ser executado muitas vezes com resultados potencialmente diferentes — passando dados diferentes a cada chamada.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0896" y="3145536"/>
            <a:ext cx="8503920" cy="575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chamado de função (quando retorna valor) ou procedimento (quando retorna void).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56032" y="3776472"/>
            <a:ext cx="8631936" cy="595457"/>
          </a:xfrm>
          <a:prstGeom prst="rect">
            <a:avLst/>
          </a:prstGeom>
          <a:solidFill>
            <a:srgbClr val="0D9488">
              <a:alpha val="17000"/>
            </a:srgbClr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813048"/>
            <a:ext cx="8412480" cy="554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Sem métodos, você seria obrigado a copiar e colar o mesmo código em vários lugares — método resolve isso!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de um Método — do mais simples ao completo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10896" y="10058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Anatomia de um método Java: modificadores, tipo de retorno, nome, parâmetros e bloco: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19456" y="1444751"/>
            <a:ext cx="8705088" cy="3412011"/>
          </a:xfrm>
          <a:prstGeom prst="rect">
            <a:avLst/>
          </a:prstGeom>
          <a:solidFill>
            <a:srgbClr val="071009"/>
          </a:solidFill>
          <a:ln w="1016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19456" y="1444752"/>
            <a:ext cx="109728" cy="23774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519147"/>
            <a:ext cx="8339328" cy="1382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Método mais simples — </a:t>
            </a:r>
            <a:r>
              <a:rPr lang="en-US" sz="1300" dirty="0" err="1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</a:t>
            </a: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parâmetros, sem retorno: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void calcularPontuacao()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System.out.println("Calculando...");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Chamando o método: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calcularPontuacao();  // invoca o método acima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Método com parâmetros e retorno: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int calcularPontuacao(boolean ganhou, int nivel, int bonus)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(ganhou)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nivel * 1000 + bonus;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Chamando com argumentos: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total = calcularPontuacao(true, 3, 500);  // total = 3500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0"/>
            <a:ext cx="457200" cy="960120"/>
          </a:xfrm>
          <a:prstGeom prst="rect">
            <a:avLst/>
          </a:prstGeom>
          <a:solidFill>
            <a:srgbClr val="16A34A">
              <a:alpha val="12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 vs. Argumentos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10896" y="11155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Parâmetro: a variável definida na DECLARAÇÃO do método (o que o método espera receber).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6032" y="15270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" y="15636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void saudar(String nome, int idade) {  // nome e idade são PARÂMETROS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6032" y="19842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0208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System.out.println("Olá, " + nome + "! " + idade + " anos.");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6032" y="24414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" y="24780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0896" y="29443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Argumento: o valor REAL passado ao chamar o método.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56032" y="33558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" y="33924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saudar("Ana", 25);  // "Ana" e 25 são ARGUMENTOS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10896" y="38587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obrigatórias ao chamar um método: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10896" y="43159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dos argumentos deve coincidir com a ordem dos parâmetros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10896" y="47731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tipos dos argumentos devem ser compatíveis com os tipos dos parâmetros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10896" y="52303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número de argumentos deve ser EXATAMENTE igual ao número de parâmetros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56032" y="5641848"/>
            <a:ext cx="8631936" cy="402336"/>
          </a:xfrm>
          <a:prstGeom prst="rect">
            <a:avLst/>
          </a:prstGeom>
          <a:solidFill>
            <a:srgbClr val="F59E0B">
              <a:alpha val="17000"/>
            </a:srgbClr>
          </a:solidFill>
          <a:ln w="762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5678424"/>
            <a:ext cx="84124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Java NÃO suporta parâmetros com valor padrão — você deve sempre passar todos os argumentos!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Chamadas válidas e inválidas de métodos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10896" y="10058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Exemplos de como chamar corretamente um método com parâmetros: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19456" y="1444752"/>
            <a:ext cx="8705088" cy="2377440"/>
          </a:xfrm>
          <a:prstGeom prst="rect">
            <a:avLst/>
          </a:prstGeom>
          <a:solidFill>
            <a:srgbClr val="071009"/>
          </a:solidFill>
          <a:ln w="1016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19456" y="1444752"/>
            <a:ext cx="109728" cy="23774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572768"/>
            <a:ext cx="833932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Declaração do método: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int calcularPontuacao(boolean ganhou, int nivel, int pontos)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ganhou ? nivel * pontos : 0;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✅ Chamada CORRETA — tipos e ordem corretos: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resultado = calcularPontuacao(true, 3, 500);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❌ ERRO — boolean deve ser o 1º argumento: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int r = calcularPontuacao(3, true, 500);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❌ ERRO — argumentos insuficientes: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int r = calcularPontuacao(true, 3);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❌ ERRO — argumentos demais: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int r = calcularPontuacao(true, 3, 500, 100);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" y="3968496"/>
            <a:ext cx="8705088" cy="676656"/>
          </a:xfrm>
          <a:prstGeom prst="rect">
            <a:avLst/>
          </a:prstGeom>
          <a:solidFill>
            <a:srgbClr val="F59E0B">
              <a:alpha val="20000"/>
            </a:srgbClr>
          </a:solidFill>
          <a:ln w="1016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4041648"/>
            <a:ext cx="8458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O compilador Java verifica tipo, ordem e quantidade de argumentos — erros são detectados antes de executar!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2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0"/>
            <a:ext cx="1280160" cy="5143500"/>
          </a:xfrm>
          <a:prstGeom prst="rect">
            <a:avLst/>
          </a:prstGeom>
          <a:solidFill>
            <a:srgbClr val="16A34A">
              <a:alpha val="7000"/>
            </a:srgbClr>
          </a:solidFill>
          <a:ln w="381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9144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47472" y="23317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20240" y="1234440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Retorno, void e Recap de Métodos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920240" y="2743200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retorno, instrução return, assinatura e o método main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" y="47091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0"/>
            <a:ext cx="457200" cy="960120"/>
          </a:xfrm>
          <a:prstGeom prst="rect">
            <a:avLst/>
          </a:prstGeom>
          <a:solidFill>
            <a:srgbClr val="16A34A">
              <a:alpha val="12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Declarando o Tipo de Retorno de um Método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10896" y="11155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tipo de retorno é declarado ANTES do nome do método.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0896" y="15727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void → o método não retorna nenhum dado (apenas executa código).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6032" y="19842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" y="20208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void imprimirMensagem() { ... }  // void = sem retorno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" y="24871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tipo primitivo ou classe → o método retorna um valor daquele tipo.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6032" y="28986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" y="29352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int    calcular()  { return 42; }    // retorna int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56032" y="33558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33924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double obterPreco(){ return 9.99; }  // retorna double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56032" y="38130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" y="38496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String getNome()  { return "Ana"; } // retorna String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56032" y="42702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0624" y="43068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boolean isAtivo() { return true; }  // retorna boolean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56032" y="4727448"/>
            <a:ext cx="8631936" cy="402336"/>
          </a:xfrm>
          <a:prstGeom prst="rect">
            <a:avLst/>
          </a:prstGeom>
          <a:solidFill>
            <a:srgbClr val="0D9488">
              <a:alpha val="17000"/>
            </a:srgbClr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4764024"/>
            <a:ext cx="84124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Se declara um tipo de retorno (não-void), DEVE haver um return com valor em TODOS os caminhos de execução!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Instrução return — Casos Completos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10896" y="10058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cenários possíveis do uso de return em métodos Java: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" y="1289587"/>
            <a:ext cx="8705088" cy="3963925"/>
          </a:xfrm>
          <a:prstGeom prst="rect">
            <a:avLst/>
          </a:prstGeom>
          <a:solidFill>
            <a:srgbClr val="071009"/>
          </a:solidFill>
          <a:ln w="1016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28016" y="1289588"/>
            <a:ext cx="109728" cy="23774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417604"/>
            <a:ext cx="833932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1. void — return opcional (pode encerrar o método antecipadamente):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void validar(int valor)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(valor &lt; 0)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System.out.println("Valor inválido!");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return;  // encerra o método sem retornar valor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System.out.println("Válido: " + valor);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2. Retorno com valor em todos os caminhos: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String classificar(int nota)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(nota &gt;= 7) return "Aprovado";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          return "Reprovado";  // todos os caminhos retornam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3. Padrão recomendado — variável de retorno padrão: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int maximo(int a, int b)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resultado = a;  // valor padrão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 &gt; a) resultado = b;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resultado;   // único return no final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" y="5205704"/>
            <a:ext cx="8705088" cy="338328"/>
          </a:xfrm>
          <a:prstGeom prst="rect">
            <a:avLst/>
          </a:prstGeom>
          <a:solidFill>
            <a:srgbClr val="16A34A">
              <a:alpha val="20000"/>
            </a:srgbClr>
          </a:solidFill>
          <a:ln w="1016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0896" y="5077632"/>
            <a:ext cx="8458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Boa prática: declare um valor padrão no início e use um único return no final — código mais previsível e fácil de debugar!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-91440" y="4764308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0"/>
            <a:ext cx="457200" cy="960120"/>
          </a:xfrm>
          <a:prstGeom prst="rect">
            <a:avLst/>
          </a:prstGeom>
          <a:solidFill>
            <a:srgbClr val="16A34A">
              <a:alpha val="12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do Método e o Método main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20040" y="901694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assinatura de um método é definida pelo nome + número e tipos dos parâmetros.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6032" y="1284231"/>
            <a:ext cx="8631936" cy="418429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" y="1320807"/>
            <a:ext cx="837590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calcularPontuacao(boolean, int, int)  // assinatura única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92608" y="1738420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tipo de retorno e o nome dos parâmetros NÃO fazem parte da assinatura.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2608" y="2026771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assinatura é o que torna um método único em uma classe.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92608" y="2502259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método main é especial — a JVM o busca como ponto de entrada: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37744" y="2932027"/>
            <a:ext cx="8631936" cy="418429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" y="2968603"/>
            <a:ext cx="837590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void main(String[] args) { ... }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2608" y="3453235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Funções vs. Procedimentos (terminologia de outras linguagens):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92608" y="3928723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Função: método que retorna um valor (não-void)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01752" y="4369693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Procedimento: método void — em Java, ambos são simplesmente chamados de 'métodos'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-18288" y="4404211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2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0"/>
            <a:ext cx="1280160" cy="5143500"/>
          </a:xfrm>
          <a:prstGeom prst="rect">
            <a:avLst/>
          </a:prstGeom>
          <a:solidFill>
            <a:srgbClr val="16A34A">
              <a:alpha val="7000"/>
            </a:srgbClr>
          </a:solidFill>
          <a:ln w="381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9144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47472" y="23317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20240" y="1234440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if-then-else Completo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920240" y="2743200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completa: if, else, else-if e desafio de pontuação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" y="47091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Completa do if-then-else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10896" y="10058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formas do if em Java — simples, com else, e com else-if encadeado: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19456" y="1444752"/>
            <a:ext cx="8705088" cy="2377440"/>
          </a:xfrm>
          <a:prstGeom prst="rect">
            <a:avLst/>
          </a:prstGeom>
          <a:solidFill>
            <a:srgbClr val="071009"/>
          </a:solidFill>
          <a:ln w="1016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19456" y="1444752"/>
            <a:ext cx="109728" cy="23774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572768"/>
            <a:ext cx="833932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1. if simples (sem else):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(condicao)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executa somente se condicao for true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2. if-else (um ou outro):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(condicao)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executa se true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executa se false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3. if-else if-else (múltiplas condições):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(nota &gt;= 9)       { System.out.println("Excelente"); 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 if (nota &gt;= 7)  { System.out.println("Aprovado"); 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 if (nota &gt;= 5)  { System.out.println("Recuperação"); 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                 { System.out.println("Reprovado");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" y="3968496"/>
            <a:ext cx="8705088" cy="676656"/>
          </a:xfrm>
          <a:prstGeom prst="rect">
            <a:avLst/>
          </a:prstGeom>
          <a:solidFill>
            <a:srgbClr val="16A34A">
              <a:alpha val="20000"/>
            </a:srgbClr>
          </a:solidFill>
          <a:ln w="1016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4041648"/>
            <a:ext cx="8458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Regra de ouro: SEMPRE use chaves {} — mesmo com uma linha. Facilita manutenção e evita bugs silenciosos!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0"/>
            <a:ext cx="457200" cy="960120"/>
          </a:xfrm>
          <a:prstGeom prst="rect">
            <a:avLst/>
          </a:prstGeom>
          <a:solidFill>
            <a:srgbClr val="16A34A">
              <a:alpha val="12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if-then-else — Calculando Pontuação Final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10896" y="11155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Desafio: Calcular a pontuação final de um jogo e exibir o resultado.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6032" y="15270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" y="15636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 gameOver = true;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6032" y="19842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0208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score = 800, levelCompleted = 5, bonus = 100;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6032" y="24414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" y="24780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56032" y="28986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29352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(gameOver) {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56032" y="33558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" y="33924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finalScore = score + (levelCompleted * 1000) + bonus;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56032" y="38130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0624" y="38496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System.out.println("Pontuação final: " + finalScore);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56032" y="42702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0624" y="43068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10896" y="47731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rodada do desafio com valores diferentes: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56032" y="51846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0624" y="52212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10_000;  levelCompleted = 8;  bonus = 200;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56032" y="56418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0624" y="56784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Reutiliza o mesmo if — resultado: 10000 + 8000 + 200 = 18200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6032" y="6099048"/>
            <a:ext cx="8631936" cy="402336"/>
          </a:xfrm>
          <a:prstGeom prst="rect">
            <a:avLst/>
          </a:prstGeom>
          <a:solidFill>
            <a:srgbClr val="0D9488">
              <a:alpha val="17000"/>
            </a:srgbClr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135624"/>
            <a:ext cx="84124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Variáveis declaradas DENTRO de um bloco {} só existem dentro dele — isso é 'escopo de bloco'!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2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0"/>
            <a:ext cx="1280160" cy="5143500"/>
          </a:xfrm>
          <a:prstGeom prst="rect">
            <a:avLst/>
          </a:prstGeom>
          <a:solidFill>
            <a:srgbClr val="16A34A">
              <a:alpha val="7000"/>
            </a:srgbClr>
          </a:solidFill>
          <a:ln w="381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9144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47472" y="23317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20240" y="1234440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Sobrecarga de Métodos (Method Overloading)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920240" y="2743200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Múltiplos métodos com o mesmo nome — diferenciados pelos parâmetros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" y="47091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0"/>
            <a:ext cx="457200" cy="960120"/>
          </a:xfrm>
          <a:prstGeom prst="rect">
            <a:avLst/>
          </a:prstGeom>
          <a:solidFill>
            <a:srgbClr val="16A34A">
              <a:alpha val="12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Sobrecarga de Métodos?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10896" y="1115568"/>
            <a:ext cx="8503920" cy="505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Sobrecarga ocorre quando uma classe tem MÚLTIPLOS métodos com o mesmo nome, mas parâmetros diferentes.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0896" y="1709928"/>
            <a:ext cx="8503920" cy="505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Java resolve qual método chamar com base nos argumentos passados na invocação.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0896" y="2304288"/>
            <a:ext cx="8503920" cy="505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assinatura do método = nome + número/tipos/ordem dos parâmetros.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0896" y="2898648"/>
            <a:ext cx="8503920" cy="505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faz parte da assinatura: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" y="3493008"/>
            <a:ext cx="8503920" cy="505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tipo de retorno — dois métodos com mesmo nome e parâmetros mas retorno diferente = ERRO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10896" y="4087368"/>
            <a:ext cx="8503920" cy="505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nome dos parâmetros — apenas os tipos importam na assinatura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56032" y="4453955"/>
            <a:ext cx="8631936" cy="523037"/>
          </a:xfrm>
          <a:prstGeom prst="rect">
            <a:avLst/>
          </a:prstGeom>
          <a:solidFill>
            <a:srgbClr val="0D9488">
              <a:alpha val="17000"/>
            </a:srgbClr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4490531"/>
            <a:ext cx="8412480" cy="487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Sobrecarga é a mesma operação com diferentes tipos de entrada — ex: calcular() para int, double, String...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4737419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Sobrecarga de Métodos — Exemplos Válidos e Inválidos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10896" y="10058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Regra: a assinatura (nome + parâmetros) deve ser única na classe: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19456" y="1444752"/>
            <a:ext cx="8705088" cy="2377440"/>
          </a:xfrm>
          <a:prstGeom prst="rect">
            <a:avLst/>
          </a:prstGeom>
          <a:solidFill>
            <a:srgbClr val="071009"/>
          </a:solidFill>
          <a:ln w="1016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19456" y="1444752"/>
            <a:ext cx="109728" cy="23774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572768"/>
            <a:ext cx="833932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✅ VÁLIDOS — assinaturas diferentes: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void fazerAlgo(int a) { }           // (int)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void fazerAlgo(int a, int b) { }    // (int, int)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void fazerAlgo(double a) { }        // (double)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void fazerAlgo(int a, double b) { } // (int, double)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void fazerAlgo(double a, int b) { } // (double, int)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❌ INVÁLIDOS — assinaturas duplicadas: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public static void   fazerAlgo(int x) { }  // ERRO: (int) já existe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public static double fazerAlgo(int x) { }  // ERRO: retorno não conta!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public static void   fazerAlgo(int z) { }  // ERRO: nome do param não conta!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" y="3968496"/>
            <a:ext cx="8705088" cy="676656"/>
          </a:xfrm>
          <a:prstGeom prst="rect">
            <a:avLst/>
          </a:prstGeom>
          <a:solidFill>
            <a:srgbClr val="F59E0B">
              <a:alpha val="20000"/>
            </a:srgbClr>
          </a:solidFill>
          <a:ln w="1016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4041648"/>
            <a:ext cx="8458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Mudar apenas o nome do parâmetro ou o tipo de retorno NÃO cria uma sobrecarga válida — o compilador reclamará!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Real de Sobrecarga — Converter para Centímetros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10896" y="10058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nome, lógica relacionada, mas inputs diferentes — clássico caso de sobrecarga: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19456" y="1444752"/>
            <a:ext cx="8705088" cy="2377440"/>
          </a:xfrm>
          <a:prstGeom prst="rect">
            <a:avLst/>
          </a:prstGeom>
          <a:solidFill>
            <a:srgbClr val="071009"/>
          </a:solidFill>
          <a:ln w="1016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19456" y="1444752"/>
            <a:ext cx="109728" cy="23774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572768"/>
            <a:ext cx="833932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Método 1: recebe altura total em polegadas: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double converterParaCentimetros(int polegadas)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polegadas * 2.54;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Método 2: recebe pés e polegadas separados: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double converterParaCentimetros(int pes, int polegadas)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totalPolegadas = (pes * 12) + polegadas;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converterParaCentimetros(totalPolegadas);  // chama o método 1!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Chamadas — Java identifica qual usar pelos argumentos: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a = converterParaCentimetros(68);    // 172.72 cm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b = converterParaCentimetros(5, 8);  // 172.72 cm (5'8" = 68")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System.out.println(a + " vs " + b);  // 172.72 vs 172.72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" y="3968496"/>
            <a:ext cx="8705088" cy="676656"/>
          </a:xfrm>
          <a:prstGeom prst="rect">
            <a:avLst/>
          </a:prstGeom>
          <a:solidFill>
            <a:srgbClr val="16A34A">
              <a:alpha val="20000"/>
            </a:srgbClr>
          </a:solidFill>
          <a:ln w="1016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4041648"/>
            <a:ext cx="8458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Sobrecarga permite que o método 2 REUTILIZE a lógica do método 1 — evita duplicação de código!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Sobrecarga Válida vs. Inválida — Resumo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19456" y="1051560"/>
            <a:ext cx="4242816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19456" y="1051560"/>
            <a:ext cx="4242816" cy="42062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078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Cria sobrecarga válida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84048" y="1554480"/>
            <a:ext cx="3968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 número de parâmetros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2011680"/>
            <a:ext cx="3968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Diferentes tipos de parâmetros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84048" y="2468880"/>
            <a:ext cx="3968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 ordem de tipos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84048" y="2926080"/>
            <a:ext cx="3968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 de qualquer um acima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84048" y="3383280"/>
            <a:ext cx="3968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m(int) e m(double) → OK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84048" y="3840480"/>
            <a:ext cx="3968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m(int,String) e m(String,int) → OK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81728" y="1051560"/>
            <a:ext cx="4242816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81728" y="1051560"/>
            <a:ext cx="4242816" cy="42062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9744" y="1078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NÃO cria sobrecarga válida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968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nome dos parâmetros difere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46320" y="2011680"/>
            <a:ext cx="3968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o tipo de retorno difere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2468880"/>
            <a:ext cx="3968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Exatamente os mesmos parâmetros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46320" y="2926080"/>
            <a:ext cx="3968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Mesmos parâmetros em mesma ordem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46320" y="3383280"/>
            <a:ext cx="3968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m(int x) e m(int y) → ERRO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46320" y="3840480"/>
            <a:ext cx="3968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int m(int) e void m(int) → ERRO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2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0"/>
            <a:ext cx="1280160" cy="5143500"/>
          </a:xfrm>
          <a:prstGeom prst="rect">
            <a:avLst/>
          </a:prstGeom>
          <a:solidFill>
            <a:srgbClr val="16A34A">
              <a:alpha val="7000"/>
            </a:srgbClr>
          </a:solidFill>
          <a:ln w="381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9144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47472" y="23317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20240" y="1234440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Desafios Práticos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920240" y="2743200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Score, Segundos/Minutos, Conversão e Validação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" y="47091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0"/>
            <a:ext cx="457200" cy="960120"/>
          </a:xfrm>
          <a:prstGeom prst="rect">
            <a:avLst/>
          </a:prstGeom>
          <a:solidFill>
            <a:srgbClr val="16A34A">
              <a:alpha val="12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1 — High Score (Placar de Líderes)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10896" y="11155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dois métodos para um sistema de placar de líderes: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0896" y="15727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displayHighScorePosition(String nome, int posicao):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0896" y="20299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Imprime: "Ana conseguiu entrar na posição 2 do placar de líderes"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0896" y="24871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calculateHighScorePosition(int pontuacao): retorna posição 1-4 baseado no score: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56032" y="28986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" y="29352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&gt;= 1000  → posição 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56032" y="33558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" y="33924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&gt;= 500   → posição 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56032" y="38130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" y="38496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&gt;= 100   → posição 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56032" y="42702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" y="43068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&lt; 100    → posição 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10896" y="47731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com: 1500, 1000, 500, 100 e 25 pontos.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56032" y="5184648"/>
            <a:ext cx="8631936" cy="402336"/>
          </a:xfrm>
          <a:prstGeom prst="rect">
            <a:avLst/>
          </a:prstGeom>
          <a:solidFill>
            <a:srgbClr val="0D9488">
              <a:alpha val="17000"/>
            </a:srgbClr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5221224"/>
            <a:ext cx="84124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O método displayHighScorePosition chama calculateHighScorePosition — métodos se chamando entre si!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1 — Solução High Score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10896" y="10058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métodos que trabalham juntos: um calcula, outro exibe: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19456" y="1444752"/>
            <a:ext cx="8705088" cy="3337560"/>
          </a:xfrm>
          <a:prstGeom prst="rect">
            <a:avLst/>
          </a:prstGeom>
          <a:solidFill>
            <a:srgbClr val="071009"/>
          </a:solidFill>
          <a:ln w="1016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19456" y="1444752"/>
            <a:ext cx="109728" cy="33375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572768"/>
            <a:ext cx="833932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void displayHighScorePosition(String nome, int posicao)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System.out.println(nome + " entrou na posição " + posicao + " do placar!");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int calculateHighScorePosition(int score)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(score &gt;= 1000) return 1;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if (score &gt;= 500) return 2;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if (score &gt;= 100) return 3;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4;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 método main: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int[] scores = {1500, 1000, 500, 100, 25};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score : scores)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pos = calculateHighScorePosition(score);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displayHighScorePosition("Tim", pos);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0"/>
            <a:ext cx="457200" cy="960120"/>
          </a:xfrm>
          <a:prstGeom prst="rect">
            <a:avLst/>
          </a:prstGeom>
          <a:solidFill>
            <a:srgbClr val="16A34A">
              <a:alpha val="12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2 — Converter Segundos em Horas, Minutos e Segundos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10896" y="11155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dois métodos sobrecarregados chamados getDurationString: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0896" y="15727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1: getDurationString(int segundos) — converte segundos totais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0896" y="20299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Deve chamar o Método 2 para retornar o resultado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0896" y="24871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2: getDurationString(int minutos, int segundos) — converte min e seg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" y="29443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Retorna String no formato: 'XXh YYm ZZs'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10896" y="34015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Fórmulas de conversão: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56032" y="38130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" y="38496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horas   = minutos / 60;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56032" y="42702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" y="43068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minRest = minutos % 60;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56032" y="47274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" y="47640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partir de segundos totais: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6032" y="51846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0624" y="52212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minutosTotal = segundos / 60;  int segRest = segundos % 60;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56032" y="5641848"/>
            <a:ext cx="8631936" cy="402336"/>
          </a:xfrm>
          <a:prstGeom prst="rect">
            <a:avLst/>
          </a:prstGeom>
          <a:solidFill>
            <a:srgbClr val="0D9488">
              <a:alpha val="17000"/>
            </a:srgbClr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5678424"/>
            <a:ext cx="84124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Este desafio combina sobrecarga de método + método chamando outro método + formatação de String!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2 — Solução Segundos/Minutos com Validação Bônus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10896" y="10058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completa com sobrecarga e validação de entrada: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19456" y="1444752"/>
            <a:ext cx="8705088" cy="3383280"/>
          </a:xfrm>
          <a:prstGeom prst="rect">
            <a:avLst/>
          </a:prstGeom>
          <a:solidFill>
            <a:srgbClr val="071009"/>
          </a:solidFill>
          <a:ln w="1016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19456" y="1444752"/>
            <a:ext cx="109728" cy="23774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572768"/>
            <a:ext cx="833932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String getDurationString(int segundos)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(segundos &lt; 0) { return "Segundos inválidos!"; 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getDurationString(segundos / 60, segundos % 60);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String getDurationString(int minutos, int segundos)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(minutos &lt; 0 || segundos &lt; 0 || segundos &gt; 59)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"Parâmetros inválidos!";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horas   = minutos / 60;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minRest = minutos % 60;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horas + "h " + minRest + "m " + segundos + "s";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Testes: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System.out.println(getDurationString(3945));    // 1h 5m 45s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System.out.println(getDurationString(65, 45));  // 1h 5m 45s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System.out.println(getDurationString(-1));      // Segundos inválidos!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2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0"/>
            <a:ext cx="1280160" cy="5143500"/>
          </a:xfrm>
          <a:prstGeom prst="rect">
            <a:avLst/>
          </a:prstGeom>
          <a:solidFill>
            <a:srgbClr val="16A34A">
              <a:alpha val="7000"/>
            </a:srgbClr>
          </a:solidFill>
          <a:ln w="381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9144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47472" y="23317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20240" y="1234440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Boas Práticas &amp; Conteúdo Extra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920240" y="2743200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Convenções, exercícios, padrões e o que aprendemos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" y="47091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0"/>
            <a:ext cx="457200" cy="960120"/>
          </a:xfrm>
          <a:prstGeom prst="rect">
            <a:avLst/>
          </a:prstGeom>
          <a:solidFill>
            <a:srgbClr val="16A34A">
              <a:alpha val="12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Resumo: Anatomia Completa de um Método Java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10896" y="11155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modificador tipoRetorno nomeMetodo(tipo1 param1, tipo2 param2) { corpo 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6032" y="15270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" y="15636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Modificadores opcionais: public, private, static, final...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6032" y="19842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0208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Tipo de retorno: void, int, double, String, boolean, etc.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6032" y="24414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" y="24780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Nome: lowerCamelCase por convenção (calcularTotal, getNome)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56032" y="28986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29352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Parâmetros: lista separada por vírgula (tipo nome, tipo nome)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56032" y="33558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" y="33924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Corpo: bloco {} com statements; obrigatório ter return se não-void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10896" y="38587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completo com cada parte comentada: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6032" y="42702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0624" y="43068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double calcularMedia(int a, int b, int c) {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56032" y="47274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0624" y="47640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(a + b + c) / 3.0;  // retorno obrigatório (não-void)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56032" y="51846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0624" y="52212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56032" y="5641848"/>
            <a:ext cx="8631936" cy="402336"/>
          </a:xfrm>
          <a:prstGeom prst="rect">
            <a:avLst/>
          </a:prstGeom>
          <a:solidFill>
            <a:srgbClr val="0D9488">
              <a:alpha val="17000"/>
            </a:srgbClr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5678424"/>
            <a:ext cx="84124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Convenção de nome: use verbos — calcular, obter, verificar, exibir, converter...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0"/>
            <a:ext cx="457200" cy="960120"/>
          </a:xfrm>
          <a:prstGeom prst="rect">
            <a:avLst/>
          </a:prstGeom>
          <a:solidFill>
            <a:srgbClr val="16A34A">
              <a:alpha val="12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Boas Práticas com Métodos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10896" y="11155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método deve fazer UMA coisa bem feita — princípio da responsabilidade única.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0896" y="15727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Mantenha métodos curtos — idealmente menos de 20-30 linhas. Se for maior, divida.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0896" y="20299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nomes descritivos: calcularMedia(), não cm() ou x().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0896" y="24871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 entradas em métodos públicos — nunca confie nos argumentos recebidos.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" y="29443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Prefira um único return no final para facilitar debug (padrão da variável resultado).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10896" y="34015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Evite efeitos colaterais: métodos devem fazer o que o nome promete — nada mais.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0896" y="38587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 com Javadoc quando o método for complexo ou público: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56032" y="42702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43068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Converte polegadas para centímetros. @param pol polegadas */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56032" y="4727448"/>
            <a:ext cx="8631936" cy="402336"/>
          </a:xfrm>
          <a:prstGeom prst="rect">
            <a:avLst/>
          </a:prstGeom>
          <a:solidFill>
            <a:srgbClr val="16A34A">
              <a:alpha val="17000"/>
            </a:srgbClr>
          </a:solidFill>
          <a:ln w="7620">
            <a:solidFill>
              <a:srgbClr val="16A3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764024"/>
            <a:ext cx="84124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Código bem organizado em métodos reutilizáveis é a base de qualquer aplicação Java de qualidade!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0"/>
            <a:ext cx="457200" cy="960120"/>
          </a:xfrm>
          <a:prstGeom prst="rect">
            <a:avLst/>
          </a:prstGeom>
          <a:solidFill>
            <a:srgbClr val="16A34A">
              <a:alpha val="12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Comuns com Métodos — Evite!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10896" y="11155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Esquecer o return em método não-void: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6032" y="15270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" y="15636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int somar(int a, int b) {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6032" y="1984248"/>
            <a:ext cx="8631936" cy="402336"/>
          </a:xfrm>
          <a:prstGeom prst="rect">
            <a:avLst/>
          </a:prstGeom>
          <a:solidFill>
            <a:srgbClr val="2D0000"/>
          </a:solidFill>
          <a:ln w="762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0208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res = a + b;  // ❌ ERRO: falta return res;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6032" y="24414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" y="24780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0896" y="29443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Tipo de argumento errado na chamada: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56032" y="3355848"/>
            <a:ext cx="8631936" cy="402336"/>
          </a:xfrm>
          <a:prstGeom prst="rect">
            <a:avLst/>
          </a:prstGeom>
          <a:solidFill>
            <a:srgbClr val="2D0000"/>
          </a:solidFill>
          <a:ln w="762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" y="33924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calcularPontuacao(500, true, 3); // ❌ boolean deve ser 1º!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56032" y="38130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16A3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" y="38496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calcularPontuacao(true, 3, 500); // ✅ ordem correta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10896" y="43159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Tentar criar sobrecarga apenas mudando o retorno: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56032" y="4727448"/>
            <a:ext cx="8631936" cy="402336"/>
          </a:xfrm>
          <a:prstGeom prst="rect">
            <a:avLst/>
          </a:prstGeom>
          <a:solidFill>
            <a:srgbClr val="0C1810"/>
          </a:solidFill>
          <a:ln w="7620">
            <a:solidFill>
              <a:srgbClr val="16A3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0624" y="47640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int    calcular(int x) { ... }  // OK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56032" y="5184648"/>
            <a:ext cx="8631936" cy="402336"/>
          </a:xfrm>
          <a:prstGeom prst="rect">
            <a:avLst/>
          </a:prstGeom>
          <a:solidFill>
            <a:srgbClr val="2D0000"/>
          </a:solidFill>
          <a:ln w="7620">
            <a:solidFill>
              <a:srgbClr val="EF44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0624" y="52212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double calcular(int x) { ... }  // ❌ ERRO de compilação!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0"/>
            <a:ext cx="457200" cy="960120"/>
          </a:xfrm>
          <a:prstGeom prst="rect">
            <a:avLst/>
          </a:prstGeom>
          <a:solidFill>
            <a:srgbClr val="16A34A">
              <a:alpha val="12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Exercícios de Código — Como Funcionam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10896" y="1115568"/>
            <a:ext cx="8503920" cy="435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plataforma Udemy oferece exercícios de código interativos — recurso valioso!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0896" y="1627632"/>
            <a:ext cx="8503920" cy="435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escreve a solução diretamente no navegador, sem precisar do IntelliJ.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0896" y="2139696"/>
            <a:ext cx="8503920" cy="435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botão verifica a resposta instantaneamente — feedback imediato.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0896" y="2651760"/>
            <a:ext cx="8503920" cy="435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pode ver soluções de outros estudantes e compartilhar a sua.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" y="3163824"/>
            <a:ext cx="8503920" cy="435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DIFERENTES dos desafios em vídeo: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10896" y="3675888"/>
            <a:ext cx="8503920" cy="435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em vídeo: você pausa, resolve, depois vê a solução do professor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0896" y="4187952"/>
            <a:ext cx="8503920" cy="435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de código: você resolve sozinho, sem vídeo de solução; clica para verificar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0896" y="4700016"/>
            <a:ext cx="8503920" cy="435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r>
              <a:rPr lang="en-US" sz="13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de 50 exercícios disponíveis no curso — atualizados para Java 17.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56032" y="5166360"/>
            <a:ext cx="8631936" cy="450616"/>
          </a:xfrm>
          <a:prstGeom prst="rect">
            <a:avLst/>
          </a:prstGeom>
          <a:solidFill>
            <a:srgbClr val="0D9488">
              <a:alpha val="17000"/>
            </a:srgbClr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5202936"/>
            <a:ext cx="8412480" cy="419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abra o exercício em uma aba e o vídeo em outra para acompanhar lado a lado!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A1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9520" y="0"/>
            <a:ext cx="1554480" cy="5143500"/>
          </a:xfrm>
          <a:prstGeom prst="rect">
            <a:avLst/>
          </a:prstGeom>
          <a:solidFill>
            <a:srgbClr val="16A34A">
              <a:alpha val="7000"/>
            </a:srgbClr>
          </a:solidFill>
          <a:ln w="381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329184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Final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11480" y="87782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&amp; Métodos — o que você aprendeu: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84048" y="1435608"/>
            <a:ext cx="64008" cy="32918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399032"/>
            <a:ext cx="8092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Expressão computa um valor; Statement é uma instrução completa; Bloco {} agrupa statements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84048" y="1911096"/>
            <a:ext cx="64008" cy="32918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874520"/>
            <a:ext cx="8092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Whitespace é ignorado pelo compilador — use-o para legibilidade e siga o Google Java Style Guide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84048" y="2386584"/>
            <a:ext cx="64008" cy="32918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350008"/>
            <a:ext cx="8092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= código reutilizável; declarado com modificadores, retorno, nome, parâmetros e corpo {}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84048" y="2862072"/>
            <a:ext cx="64008" cy="32918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825496"/>
            <a:ext cx="8092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 são na declaração; argumentos são na chamada — tipos, ordem e quantidade devem bater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84048" y="3337560"/>
            <a:ext cx="64008" cy="32918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300984"/>
            <a:ext cx="8092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void não precisa de return; não-void OBRIGA return em todos os caminhos possíveis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84048" y="3813048"/>
            <a:ext cx="64008" cy="32918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776472"/>
            <a:ext cx="8092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Sobrecarga: mesmo nome, parâmetros diferentes — tipo de retorno e nome dos params não contam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84048" y="4288536"/>
            <a:ext cx="64008" cy="32918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251960"/>
            <a:ext cx="8092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 sempre as entradas dos métodos — defenda o código contra valores inesperados!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D2218"/>
          </a:solidFill>
          <a:ln w="12700">
            <a:solidFill>
              <a:srgbClr val="0D221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493776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Java Masterclass — 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4000</Words>
  <Application>Microsoft Office PowerPoint</Application>
  <PresentationFormat>Apresentação na tela (16:9)</PresentationFormat>
  <Paragraphs>455</Paragraphs>
  <Slides>34</Slides>
  <Notes>34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34</vt:i4>
      </vt:variant>
    </vt:vector>
  </HeadingPairs>
  <TitlesOfParts>
    <vt:vector size="38" baseType="lpstr">
      <vt:lpstr>Arial</vt:lpstr>
      <vt:lpstr>Calibri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Expressões, Statements e Métodos em Java</dc:title>
  <dc:subject>PptxGenJS Presentation</dc:subject>
  <dc:creator>Java Masterclass</dc:creator>
  <cp:lastModifiedBy>gustavo jesus</cp:lastModifiedBy>
  <cp:revision>2</cp:revision>
  <dcterms:created xsi:type="dcterms:W3CDTF">2026-04-20T11:41:30Z</dcterms:created>
  <dcterms:modified xsi:type="dcterms:W3CDTF">2026-04-27T12:21:04Z</dcterms:modified>
</cp:coreProperties>
</file>