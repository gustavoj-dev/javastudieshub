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96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261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822960"/>
            <a:ext cx="2011680" cy="2011680"/>
          </a:xfrm>
          <a:prstGeom prst="rect">
            <a:avLst/>
          </a:prstGeom>
          <a:solidFill>
            <a:srgbClr val="16A34A">
              <a:alpha val="8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1188720"/>
            <a:ext cx="1554480" cy="1554480"/>
          </a:xfrm>
          <a:prstGeom prst="rect">
            <a:avLst/>
          </a:prstGeom>
          <a:solidFill>
            <a:srgbClr val="16A34A">
              <a:alpha val="20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0" y="1554480"/>
            <a:ext cx="1097280" cy="1097280"/>
          </a:xfrm>
          <a:prstGeom prst="rect">
            <a:avLst/>
          </a:prstGeom>
          <a:solidFill>
            <a:srgbClr val="0D9488">
              <a:alpha val="3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402336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0624" y="768096"/>
            <a:ext cx="6583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20624" y="1536192"/>
            <a:ext cx="6583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20624" y="2286000"/>
            <a:ext cx="65836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Métodos em Java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420624" y="3017520"/>
            <a:ext cx="5029200" cy="3657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312724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código • Métodos • Parâmetros • Retorno • Sobrecarga • 12 Exercícios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" y="351129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conceito de método até sobrecarga — com 12 exercícios práticos integrados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0624" y="3895344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57984" y="3895344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57984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95344" y="3895344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95344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32704" y="3895344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2704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70064" y="3895344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0064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0624" y="4224528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157984" y="4224528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57984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95344" y="4224528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95344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632704" y="4224528"/>
            <a:ext cx="1645920" cy="274320"/>
          </a:xfrm>
          <a:prstGeom prst="roundRect">
            <a:avLst/>
          </a:prstGeom>
          <a:solidFill>
            <a:srgbClr val="16A34A">
              <a:alpha val="32000"/>
            </a:srgbClr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32704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70064" y="4224528"/>
            <a:ext cx="1645920" cy="274320"/>
          </a:xfrm>
          <a:prstGeom prst="roundRect">
            <a:avLst/>
          </a:prstGeom>
          <a:solidFill>
            <a:srgbClr val="0D9488">
              <a:alpha val="32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70064" y="42245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1–12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Aprendizado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4937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00584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0241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Código &amp; Whitespace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123444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statements, blocos, whitespace e indentação — Exercícios 1 e 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1168" y="1545336"/>
            <a:ext cx="4937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54533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156362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 Completo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1773936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if/else/else-if, blocos, desafio de pontuação — Exercícios 3 a 6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" y="2084832"/>
            <a:ext cx="4937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1168" y="2084832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21031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aos Métodos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2313432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são, benefícios, estrutura, parâmetros vs. argumentos — Exercícios 7 e 8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1168" y="2624328"/>
            <a:ext cx="4937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1168" y="2624328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26426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e Recap de Métodos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2852928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retorno, return, assinatura, funções vs. procedimentos — Exercícios 9 e 10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01168" y="3163824"/>
            <a:ext cx="4937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1168" y="3163824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1821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Métodos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22960" y="3392424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Overloading, assinatura, regras de validade — Exercícios 11 e 12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01168" y="3703320"/>
            <a:ext cx="4937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" y="3703320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3721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Práticos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" y="3931920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Score, Segundos/Minutos, Bônus de validação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01168" y="4242816"/>
            <a:ext cx="493776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1168" y="4242816"/>
            <a:ext cx="4937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2611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Código &amp; Boas Práticas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822960" y="4471416"/>
            <a:ext cx="8092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funcionam os coding exercises, convenções e organização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Unidades de Código &amp; Whitespace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statements, blocos e indentação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Três Unidades de Código em Java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código é como escrever um documento — possui unidades hierárquicas.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Expressão: computa e retorna um único valor.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728582"/>
            <a:ext cx="8302752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Ex: 2 + 3, idade &gt;= 18, "Olá" + nome, metodo()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Statement: unidade de trabalho independente e completa.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2204070"/>
            <a:ext cx="8302752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statement termina com ; (ponto e vírgula)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0896" y="2432304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de código: zero ou mais statements agrupados para um objetivo.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" y="2679558"/>
            <a:ext cx="8302752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Delimitado por chaves { } — usado em métodos, if, for, while...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56032" y="2871216"/>
            <a:ext cx="8631936" cy="408920"/>
          </a:xfrm>
          <a:prstGeom prst="rect">
            <a:avLst/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648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Hierarquia: expressões → statements → blocos → métodos → classes → programas.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e Convenções de Código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Whitespace: espaços, tabs e linhas em branco — ignorados pelo compilador Java.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trata estas duas formas de forma IDÊNTICA: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920240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947672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x=5;System.out.println(x);  // sem espaços (válido, ilegível)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2395728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423160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                       // com espaços (legível!)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2871216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2898648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System.out.println(x);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896" y="338328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Java Style Guide define as convenções recomendadas de whitespace.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16A34A">
              <a:alpha val="18000"/>
            </a:srgbClr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849624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 whitespace generosamente — código é lido muito mais vezes do que escrito!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Positivo, Negativo ou Zero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isNegative(int number) que retorne true se number for negativo, false caso contrário.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também isPositive(int number) retornando true se &gt; 0.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459736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isNegative(-1)  → true  |  isNegative(0)  → false  |  isNegative(5)  → false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isPositive(1)   → true  |  isPositive(0)  → false  |  isPositive(-3) → 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if/else simples ou o operador ternário para retornar o boolean!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de Velocidade (mph → km/h)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toMilesPerHour(double kilometersPerHour) que converta km/h para mph.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kilometersPerHour for negativo, retorne -1.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459736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milha = 1,609344 km  →  mph = km/h / 1,609344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toMilesPerHour(1.5)   → 0.93  |  toMilesPerHour(10)   → 6.21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toMilesPerHour(-1.0)  → -1    |  toMilesPerHour(25.0) → 15.53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803904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831336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Math.round(resultado * 100.0) / 100.0 para arredondar 2 casas decimais!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if-then-else Completo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if/else/else-if, blocos de código e desafio de pontuação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Completa do if-then-else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simples: executa apenas se a condição for true.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72184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(condicao) { statements; }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if-else: um ou outro — sempre um dos blocos executa.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2395728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423160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(condicao) { ... } else { ... 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" y="2907792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 if-else: múltiplas condições — testadas em ordem.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3346704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374136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(nota &gt;= 9) { ... } else if (nota &gt;= 7) { ... } else { ... 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16A34A">
              <a:alpha val="18000"/>
            </a:srgbClr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849624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SEMPRE use chaves {} — mesmo com uma única linha. Facilita manutenção e evita bugs!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if-then-else — Pontuação do Jogo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96926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pontuação final e executa o bloco apenas se o jogo acabou: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8741664" cy="2688336"/>
          </a:xfrm>
          <a:prstGeom prst="rect">
            <a:avLst/>
          </a:prstGeom>
          <a:solidFill>
            <a:srgbClr val="071009"/>
          </a:solidFill>
          <a:ln w="1016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53312"/>
            <a:ext cx="109728" cy="2688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8412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boolean gameOver = true;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 = 800, levelCompleted = 5, bonus = 100;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(gameOver)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finalScore = score + (levelCompleted * 1000) + bonus;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System.out.println("Pontuação final: " + finalScore);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Segunda rodada — reutiliza a mesma lógica: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10_000;  levelCompleted = 8;  bonus = 200;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Resultado: 10000 + 8000 + 200 = 18200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" y="4133088"/>
            <a:ext cx="8741664" cy="658368"/>
          </a:xfrm>
          <a:prstGeom prst="rect">
            <a:avLst/>
          </a:prstGeom>
          <a:solidFill>
            <a:srgbClr val="16A34A">
              <a:alpha val="20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19709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Variáveis declaradas DENTRO de {} só existem naquele bloco — isso é 'escopo de bloco'!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de MegaBytes para Gigabytes e Kilobytes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printMegaBytesAndKiloBytes(int kiloBytes).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kiloBytes for negativo, imprima 'Invalid Value'.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496312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contrário, imprima: 'X kilobytes = Y megabytes and Z kilobytes'.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MB = 1024 KB  →  megabytes = kiloBytes / 1024  |  restante = kiloBytes % 1024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printMegaBytesAndKiloBytes(2500) → '2500 kilobytes = 2 megabytes and 452 kilobytes'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803904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31336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divisão inteira / e o operador % para separar os megabytes do restante!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'Cachorro Latindo' — Lógica Booleana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shouldWakeUp(boolean barking, int hourOfDay).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Retorne true se: o cachorro está latindo E a hora for antes das 8h ou depois das 22h.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496312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Retorne false em todos os outros casos.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shouldWakeUp(true, 1)   → true   |  shouldWakeUp(false, 2)  → false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shouldWakeUp(true, 8)   → false  |  shouldWakeUp(true, 23)  → true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803904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31336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if (!barking) return false; depois verifique se hourOfDay &lt; 8 || hourOfDay &gt; 22!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Ano Bissexto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isLeapYear(int year) retornando true se o ano for bissexto.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year &lt; 1 ou &gt; 9999, retorne false (inválido).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459736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Regra: (ano % 4 == 0 &amp;&amp; ano % 100 != 0) || (ano % 400 == 0)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isLeapYear(2000)  → true  |  isLeapYear(1900) → false  |  isLeapYear(2024) → true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valide o range primeiro com if (year &lt; 1 || year &gt; 9999) return false;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Comparador de Decimais — Comparações de Ponto Flutuante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areEqualByThreeDecimalPlaces(double a, double b).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Retorne true se a e b forem iguais até 3 casas decimais, false caso contrário.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459736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areEqualByThreeDecimalPlaces(-3.1756, -3.175)  → 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areEqualByThreeDecimalPlaces(3.175, 3.176)     → 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trunce com (int)(a * 1000) e compare com (int)(b * 1000) — sem arredondamento!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aos Métodos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são, benefícios, estrutura e parâmetros vs. argumentos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Método?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oficial: 'Um método declara código executável que pode ser invocado, passando um número fixo de valores como argumentos.'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agrupa código para evitar repetição — executável várias vezes com diferentes resultados.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principais: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2432304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duplicação de código — escreva uma vez, use em vários lugares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2907792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manutenção — altere em um único lugar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338328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Torna o código mais legível e testável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849624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Atalho IntelliJ: psvm + Tab → gera o método main; sout + Tab → System.out.println()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Método — do simples ao completo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96926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método Java: modificadores, tipo de retorno, nome, parâmetros e corpo: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8741664" cy="2688336"/>
          </a:xfrm>
          <a:prstGeom prst="rect">
            <a:avLst/>
          </a:prstGeom>
          <a:solidFill>
            <a:srgbClr val="071009"/>
          </a:solidFill>
          <a:ln w="1016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53312"/>
            <a:ext cx="109728" cy="2688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64375"/>
            <a:ext cx="8412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Método simples — sem parâmetros, sem retorno: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calcularPontuacao()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System.out.println("Calculando...");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Chamada: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calcularPontuacao();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Método com parâmetros e retorno: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int calcularPontuacao(boolean ganhou, int nivel, int bonus)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(ganhou) { return nivel * 1000 + bonus; 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Chamada: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calcularPontuacao(true, 3, 500);  // total = 3500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" y="4133088"/>
            <a:ext cx="8741664" cy="658368"/>
          </a:xfrm>
          <a:prstGeom prst="rect">
            <a:avLst/>
          </a:prstGeom>
          <a:solidFill>
            <a:srgbClr val="16A34A">
              <a:alpha val="20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19709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Parâmetro = variável na declaração do método. Argumento = valor passado na chamada.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Chamada de Método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dos argumentos deve coincidir com a ordem dos parâmetros.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tipos devem ser compatíveis com os declarados no método.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número de argumentos deve ser EXATAMENTE igual ao de parâmetros.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" y="2395728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2423160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Declaração: calcularPontuacao(boolean, int, int)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" y="2871216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898648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calcularPontuacao(true, 3, 500);   // ✅ correto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" y="3346704"/>
            <a:ext cx="8631936" cy="408920"/>
          </a:xfrm>
          <a:prstGeom prst="rect">
            <a:avLst/>
          </a:prstGeom>
          <a:solidFill>
            <a:srgbClr val="2D0000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374136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calcularPontuacao(3, true, 500);   // ❌ ordem errada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2D0000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849624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C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calcularPontuacao(true, 3);        // ❌ argumentos faltando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" y="4297680"/>
            <a:ext cx="8631936" cy="408920"/>
          </a:xfrm>
          <a:prstGeom prst="rect">
            <a:avLst/>
          </a:prstGeom>
          <a:solidFill>
            <a:srgbClr val="F59E0B">
              <a:alpha val="18000"/>
            </a:srgbClr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325112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Java NÃO suporta valores padrão para parâmetros — sempre passe todos os argumentos!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Soma Igual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hasEqualSum(int a, int b, int c) que retorne true se (a + b) == c.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011680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039112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hasEqualSum(1, 1, 1)  → false  |  hasEqualSum(1, 1, 2)  → 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459736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487168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hasEqualSum(1, -1, 0) → true   |  hasEqualSum(3, 5, 9)  → false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return (a + b) == c; — uma linha apenas, sem if necessário!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#8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Número Teen (13–19)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isTeen(int number) que retorne true se number estiver entre 13 e 19 inclusive.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também hasTeen(int a, int b, int c) que retorne true se ALGUM dos três for teen.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459736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isTeen(13)  → true   |  isTeen(12)  → false  |  isTeen(19) → true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hasTeen(3, 13, 50) → true  |  hasTeen(3, 10, 25) → 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hasTeen pode simplesmente chamar isTeen três vezes com ||!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Retorno, void e Recap de Métodos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retorno, return, assinatura, funções vs. procedimentos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Declarando o Tipo de Retorno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de retorno é declarado ANTES do nome do método.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→ o método não retorna nenhum dado (apenas executa código).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" y="1920240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947672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void imprimirMsg() { ... }  // void = sem retorno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10896" y="2432304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tipo primitivo ou classe → o método retorna um valor.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2871216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898648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int    calcular()  { return 42; 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" y="3346704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3374136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getNome()   { return "Ana"; }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849624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boolean isAtivo() { return true; 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" y="4297680"/>
            <a:ext cx="8631936" cy="408920"/>
          </a:xfrm>
          <a:prstGeom prst="rect">
            <a:avLst/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4325112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 declara tipo de retorno (não-void), DEVE ter return em TODOS os caminhos possíveis!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Instrução return — Padrão de Variável Padrão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96926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boa prática: declara valor padrão no início, único return no final: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8741664" cy="2688336"/>
          </a:xfrm>
          <a:prstGeom prst="rect">
            <a:avLst/>
          </a:prstGeom>
          <a:solidFill>
            <a:srgbClr val="071009"/>
          </a:solidFill>
          <a:ln w="1016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53312"/>
            <a:ext cx="109728" cy="2688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380377"/>
            <a:ext cx="8412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Padrão recomendado — variável padrão + return único: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classificar(int nota)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resultado = "Reprovado";  // valor padrão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(nota &gt;= 9)      resultado = "Excelente";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(nota &gt;= 7) resultado = "Aprovado";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if (nota &gt;= 5) resultado = "Recuperação";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resultado;  // único return no final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Alternativa válida — return em cada caminho: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classificar2(int nota)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(nota &gt;= 9) return "Excelente";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(nota &gt;= 7) return "Aprovado";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(nota &gt;= 5) return "Recuperação";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"Reprovado";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4133088"/>
            <a:ext cx="8741664" cy="658368"/>
          </a:xfrm>
          <a:prstGeom prst="rect">
            <a:avLst/>
          </a:prstGeom>
          <a:solidFill>
            <a:srgbClr val="16A34A">
              <a:alpha val="20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19709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Boa prática: declare valor padrão no início e use um único return no final — código mais previsível!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Área — Círculos e Retângulos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dois métodos: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area(double radius) → área do círculo: π × r²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496312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area(double x, double y) → área do retângulo: x × 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area(5.0)     → 78.54  |  area(-1.0)     → -1.0  (inválido)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area(5.0, 4.0)→ 20.0   |  area(-1.0, 4.0) → -1.0  (inválido)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803904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31336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Math.PI para π. Se qualquer argumento for negativo, retorne -1.0!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de Minutos para Anos e Dias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printYearsAndDays(long minutes) que converta minutos para anos e dias.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minutes for negativo, imprima 'Invalid Value'.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2459736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2487168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hora = 60 min  |  1 dia = 24h = 1440 min  |  1 ano = 365 dias = 525600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printYearsAndDays(525600) → '525600 min = 1 anos e 0 dias'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printYearsAndDays(1051200)→ '1051200 min = 2 anos e 0 dias'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3803904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831336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long dias = minutes / 1440; long anos = dias / 365; diasRestantes = dias % 365;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de Métodos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overloading, assinatura, regras de validade e exemplos reais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Sobrecarga de Métodos?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Sobrecarga: mesma classe com MÚLTIPLOS métodos de MESMO NOME, mas parâmetros diferentes.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Java determina qual método chamar com base nos argumentos passados.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 = nome + número/tipos/ordem dos parâmetros.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2432304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faz parte da assinatura: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2907792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retorno — mesmo nome e params mas retorno diferente = ERRO de compilação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338328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dos parâmetros — apenas os tipos importam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849624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Sobrecarga é a mesma operação com diferentes tipos de entrada — ex: calcular(int) e calcular(double)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Válida vs. Inválida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201168" y="1005840"/>
            <a:ext cx="422452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05840"/>
            <a:ext cx="4224528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033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Cria sobrecarga válida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número de parâmetros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tipos de parâmetros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23591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ordem dos tipos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65760" y="27980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m(int) e m(double) → OK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65760" y="32369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m(int, String) e m(String, int) → OK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36758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m(int) e m(int, int) → OK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00016" y="1005840"/>
            <a:ext cx="4224528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005840"/>
            <a:ext cx="4224528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1033272"/>
            <a:ext cx="4059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 cria sobrecarga válida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864608" y="148132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nome dos parâmetros difere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64608" y="1920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tipo de retorno difere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64608" y="2359152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Exatamente os mesmos parâmetros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864608" y="2798064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m(int x) e m(int y) → ERRO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864608" y="3236976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m(int) e void m(int) → ERRO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64608" y="3675888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m(int a, int b) e m(int c, int d) → ERRO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Real — Converter para Centímetros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56032" y="969264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métodos com mesmo nome: um recebe polegadas totais, outro pés e polegadas separados: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353312"/>
            <a:ext cx="8741664" cy="2820924"/>
          </a:xfrm>
          <a:prstGeom prst="rect">
            <a:avLst/>
          </a:prstGeom>
          <a:solidFill>
            <a:srgbClr val="071009"/>
          </a:solidFill>
          <a:ln w="1016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53312"/>
            <a:ext cx="109728" cy="2688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8412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Método 1: altura total em polegadas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double converterParaCm(int polegadas)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polegadas * 2.54;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Método 2: altura em pés e polegadas — chama o método 1!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double converterParaCm(int pes, int polegadas) {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totalPolegadas = (pes * 12) + polegadas;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converterParaCm(totalPolegadas);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resolve qual chamar pelos argumentos: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System.out.println(converterParaCm(68));     // 172.72 cm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System.out.println(converterParaCm(5, 8));   // 172.72 cm (5'8" = 68")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1168" y="4133088"/>
            <a:ext cx="8741664" cy="658368"/>
          </a:xfrm>
          <a:prstGeom prst="rect">
            <a:avLst/>
          </a:prstGeom>
          <a:solidFill>
            <a:srgbClr val="16A34A">
              <a:alpha val="20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19709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O método 2 REUTILIZA a lógica do método 1 chamando-o — evita duplicação e garante consistência!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de Igualdade (Equality Printer)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printEqual(int a, int b, int c) com 3 parâmetros inteiros.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'All values are equal' se todos forem iguais.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496312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'All values are different' se todos forem diferentes.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" y="2944368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contrário, imprima 'Neither all are equal or different'.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printEqual(1, 1, 1) → 'All values are equal'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8600" y="3803904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831336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printEqual(1, 2, 3) → 'All values are different'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4251960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4279392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verifique a == b &amp;&amp; b == c para 'todos iguais'; a != b &amp;&amp; b != c &amp;&amp; a != c para 'todos diferentes'!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C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256032"/>
            <a:ext cx="1572768" cy="365760"/>
          </a:xfrm>
          <a:prstGeom prst="round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5603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920240" y="21945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749808"/>
            <a:ext cx="8686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'Playing Cat' — Refinando Condicionais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8600" y="1517904"/>
            <a:ext cx="8686800" cy="27432"/>
          </a:xfrm>
          <a:prstGeom prst="rect">
            <a:avLst/>
          </a:prstGeom>
          <a:solidFill>
            <a:srgbClr val="0D9488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600200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método isCatPlaying(boolean summer, int temperature) retornando boolean.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" y="2048256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gato joga se a temperatura estiver entre 25 e 35 (inclusive).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" y="2496312"/>
            <a:ext cx="8595360" cy="380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 verão (summer = true), o range muda para 25 a 45 (inclusive).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907792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935224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isCatPlaying(false, 10)  → false  |  isCatPlaying(false, 36) → false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355848"/>
            <a:ext cx="8686800" cy="394289"/>
          </a:xfrm>
          <a:prstGeom prst="rect">
            <a:avLst/>
          </a:prstGeom>
          <a:solidFill>
            <a:srgbClr val="0C181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383280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isCatPlaying(true, 36)   → true   |  isCatPlaying(true, 46)  → false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3803904"/>
            <a:ext cx="8686800" cy="394289"/>
          </a:xfrm>
          <a:prstGeom prst="rect">
            <a:avLst/>
          </a:prstGeom>
          <a:solidFill>
            <a:srgbClr val="0D9488">
              <a:alpha val="16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31336"/>
            <a:ext cx="8412480" cy="367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declare maxTemp = summer ? 45 : 35; depois return temperature &gt;= 25 &amp;&amp; temperature &lt;= maxTemp;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3776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— Exercícios de Código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Desafios Práticos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Score, Segundos/Minutos e Bônus de validação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1 — High Score (Placar de Líderes)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métodos que trabalham juntos para um sistema de placar: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displayHighScorePosition(String nome, int posicao):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" y="1728582"/>
            <a:ext cx="8302752" cy="199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Imprime: 'Tim conseguiu entrar na posição 2 do placar de líderes'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calculateHighScorePosition(int pontuacao): retorna posição 1–4: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2395728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2423160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1000 → pos 1  |  &gt;= 500 → pos 2  |  &gt;= 100 → pos 3  |  else → pos 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10896" y="2907792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 com scores: 1500, 1000, 500, 100 e 25.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" y="3346704"/>
            <a:ext cx="8631936" cy="408920"/>
          </a:xfrm>
          <a:prstGeom prst="rect">
            <a:avLst/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374136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displayHighScorePosition CHAMA calculateHighScorePosition — métodos colaborando!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2 — Segundos e Minutos com Sobrecarga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283464" y="890806"/>
            <a:ext cx="8631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métodos getDurationString com sobrecarga — o 1º chama o 2º: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01168" y="1175004"/>
            <a:ext cx="8741664" cy="2935224"/>
          </a:xfrm>
          <a:prstGeom prst="rect">
            <a:avLst/>
          </a:prstGeom>
          <a:solidFill>
            <a:srgbClr val="071009"/>
          </a:solidFill>
          <a:ln w="1016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1353312"/>
            <a:ext cx="109728" cy="2688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44752"/>
            <a:ext cx="84124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getDurationString(int segundos)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(segundos &lt; 0) { return "Segundos inválidos!";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getDurationString(segundos / 60, segundos % 60);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String getDurationString(int minutos, int segundos)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(minutos &lt; 0 || segundos &lt; 0 || segundos &gt; 59)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"Parâmetros inválidos!";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horas   = minutos / 60;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minRest = minutos % 60;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horas + "h " + minRest + "m " + segundos + "s";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Testes: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System.out.println(getDurationString(3945));    // 1h 5m 45s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System.out.println(getDurationString(65, 45));  // 1h 5m 45s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" y="4133088"/>
            <a:ext cx="8741664" cy="658368"/>
          </a:xfrm>
          <a:prstGeom prst="rect">
            <a:avLst/>
          </a:prstGeom>
          <a:solidFill>
            <a:srgbClr val="16A34A">
              <a:alpha val="20000"/>
            </a:srgbClr>
          </a:solidFill>
          <a:ln w="1016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197096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Bônus de validação: min &gt;= 0, segundos entre 0 e 59 — sempre valide entradas em métodos públicos!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22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0"/>
            <a:ext cx="128016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2331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1234440"/>
            <a:ext cx="68580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Código &amp; Boas Práticas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920240" y="2743200"/>
            <a:ext cx="6492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funcionam os coding exercises e convenções de código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470916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Funcionam os Exercícios de Código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código são diferentes dos desafios em vídeo: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em vídeo: pause, resolva, depois veja a solução do professor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de código: resolva sozinho no navegador, clique para verificar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2432304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 da Udemy: você digita a solução diretamente na tela, sem IntelliJ.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2907792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reforçar conceitos e incentivar diferentes abordagens de solução.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338328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exercícios no curso — todos atualizados para Java 17.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849624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Abra o exercício em uma aba e o vídeo em outra para acompanhar lado a lado!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Completa de um Método — Resumo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modificador  tipoRetorno  nomeMetodo(tipo1 p1, tipo2 p2) { corpo }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" y="1444752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472184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Modificadores: public, private, static, final...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" y="1920240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947672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Tipo de retorno: void, int, double, String, boolean...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6032" y="2395728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423160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Nome: lowerCamelCase — calcularTotal, getNome, isAtivo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56032" y="2871216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898648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Parâmetros: (tipo nome, tipo nome) — lista separada por vírgula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56032" y="3346704"/>
            <a:ext cx="8631936" cy="408920"/>
          </a:xfrm>
          <a:prstGeom prst="rect">
            <a:avLst/>
          </a:prstGeom>
          <a:solidFill>
            <a:srgbClr val="0C1810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374136"/>
            <a:ext cx="8449056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Corpo: { statements; return valor; } — return obrigatório se não-void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0D9488">
              <a:alpha val="18000"/>
            </a:srgbClr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849624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Convenção de nomes: use verbos — calcular, obter, verificar, exibir, converter, imprimir...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D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9144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com Métodos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10896" y="100584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método deve fazer UMA coisa bem feita — Princípio da Responsabilidade Única.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10896" y="1481328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Mantenha métodos curtos — ideal &lt; 20 linhas. Se for maior, divida em métodos menores.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" y="1956816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nomes descritivos: calcularMedia(), não cm() ou x().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96" y="2432304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b="1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entradas em métodos públicos — nunca confie nos argumentos sem verificar.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2907792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um único return no final — mais fácil de debugar e entender.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10896" y="3383280"/>
            <a:ext cx="8577072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 </a:t>
            </a: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Reutilize métodos: o método 2 pode chamar o método 1 (como nos desafios!).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" y="3822192"/>
            <a:ext cx="8631936" cy="408920"/>
          </a:xfrm>
          <a:prstGeom prst="rect">
            <a:avLst/>
          </a:prstGeom>
          <a:solidFill>
            <a:srgbClr val="16A34A">
              <a:alpha val="18000"/>
            </a:srgbClr>
          </a:solidFill>
          <a:ln w="762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849624"/>
            <a:ext cx="8467344" cy="389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710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Código bem organizado em métodos reutilizáveis é a base de qualquer aplicação Java de qualidade!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919472"/>
            <a:ext cx="64008" cy="2240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93776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1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0"/>
            <a:ext cx="1554480" cy="5143500"/>
          </a:xfrm>
          <a:prstGeom prst="rect">
            <a:avLst/>
          </a:prstGeom>
          <a:solidFill>
            <a:srgbClr val="16A34A">
              <a:alpha val="7000"/>
            </a:srgbClr>
          </a:solidFill>
          <a:ln w="381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310896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Final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8412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Statements &amp; Métodos — o que você aprendeu: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" y="1408176"/>
            <a:ext cx="640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37160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Expressão computa um valor; Statement é instrução completa (termina com ;); Bloco {} agrupa statements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84048" y="1883664"/>
            <a:ext cx="640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184708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é ignorado pelo compilador — use-o para legibilidade (Google Java Style Guide)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84048" y="2359152"/>
            <a:ext cx="640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322576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= código reutilizável; declarado com modificadores, retorno, nome, parâmetros e corpo {}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84048" y="2834640"/>
            <a:ext cx="640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79806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estão na declaração; argumentos na chamada — tipos, ordem e quantidade devem bater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84048" y="3310128"/>
            <a:ext cx="640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27355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void não precisa de return; não-void OBRIGA return em todos os caminhos de execução possíveis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4048" y="3785616"/>
            <a:ext cx="640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85216" y="374904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Sobrecarga: mesmo nome, parâmetros diferentes — tipo de retorno e nome dos params NÃO contam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84048" y="4261104"/>
            <a:ext cx="6400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422452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exercícios cobrem: conversores, booleanos, áreas, tempo, comparação, igualdade e lógica condicional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D2218"/>
          </a:solidFill>
          <a:ln w="12700">
            <a:solidFill>
              <a:srgbClr val="0D22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93776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Java Masterclass — Expressões, Statements e Métodos em Java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4060</Words>
  <Application>Microsoft Office PowerPoint</Application>
  <PresentationFormat>Apresentação na tela (16:9)</PresentationFormat>
  <Paragraphs>447</Paragraphs>
  <Slides>39</Slides>
  <Notes>39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gustavo jesus</cp:lastModifiedBy>
  <cp:revision>2</cp:revision>
  <dcterms:created xsi:type="dcterms:W3CDTF">2026-04-27T18:43:39Z</dcterms:created>
  <dcterms:modified xsi:type="dcterms:W3CDTF">2026-04-28T21:03:23Z</dcterms:modified>
</cp:coreProperties>
</file>