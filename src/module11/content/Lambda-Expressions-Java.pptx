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011680" cy="1828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286000" cy="2011680"/>
          </a:xfrm>
          <a:prstGeom prst="rect">
            <a:avLst/>
          </a:prstGeom>
          <a:solidFill>
            <a:srgbClr val="243B2A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05840"/>
            <a:ext cx="1645920" cy="1645920"/>
          </a:xfrm>
          <a:prstGeom prst="rect">
            <a:avLst/>
          </a:prstGeom>
          <a:solidFill>
            <a:srgbClr val="1A2E2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2B788"/>
                </a:solidFill>
              </a:rPr>
              <a:t>J A V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Lambda Expressions,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2B788"/>
                </a:solidFill>
              </a:rPr>
              <a:t>Functional Interfaces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Method References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F71"/>
                </a:solidFill>
              </a:rPr>
              <a:t>Sintaxe • Consumer • Predicate • Function • Supplier • Comparator • Chaining • Method References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F71"/>
                </a:solidFill>
              </a:rPr>
              <a:t>Do conceito de lambda até referências de método e encadeamento de interfaces funcionais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Introdução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3375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Sintaxe Lambda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Functional Interfaces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33756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Consumer &amp; Predicate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Function &amp; Supplier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388620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Method References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88620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Chaining &amp; Comparator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3886200"/>
            <a:ext cx="20116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8862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Desafios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20"/>
                </a:solidFill>
              </a:rPr>
              <a:t>Roteiro de Aprendizado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96926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Introdução às Lambda Expressions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O que são, por que existem e como se relacionam com anonymous classes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49047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Sintaxe da Lambda Expression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70992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Parâmetros, arrow, body, variações com e sem tipos explícitos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0253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Functional Interfaces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23113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SAM, @FunctionalInterface, como Java infere o método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5328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Consumer &amp; Predicate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75234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void accept(T t), boolean test(T t), exemplos práticos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4495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05409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Function &amp; Supplier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27355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R apply(T t), T get(), BiFunction, UnaryOperator, variações de sintaxe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661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57530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Method References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79476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4 tipos: static, bounded, unbounded, constructor — sintaxe ::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87368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8736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09651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Chaining &amp; Comparator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431596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andThen, compose, and, or, negate, Comparator.comparing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608576"/>
            <a:ext cx="566928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0857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61772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Desafios Práticos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483717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Mini Challenges 1-7 + Lambda Challenge + Method Reference Challenge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Introdução às Lambda Expressions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O que são, para que servem e como funcionam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é uma Lambda Expression?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Introduzidas no JDK 8 — agora são um recurso essencial do Java.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Pense numa lambda como um atalho para uma anonymous class que implementa uma functional interface.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Uma functional interface é qualquer interface com apenas UM método abstrato (SAM).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Lambdas permitem passar blocos de código como parâmetros — de forma concisa e legível.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Method references são ainda mais concisas: referem-se a métodos já existentes via sintaxe ::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Anonymous class (antes do JDK 8) 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Comparator&lt;String&gt; comp = new Comparator&lt;String&gt;()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compare(String o1, String o2)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o1.compareToIgnoreCase(o2);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Lambda expression equivalente (JDK 8+) 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Comparator&lt;String&gt; comp = (o1, o2) -&gt; o1.compareToIgnoreCase(o2);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reference ainda mais concisa 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Comparator&lt;String&gt; comp = String::compareToIgnoreCase;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lambda "passa código como dado" — usada em sort, filter, map...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names = Arrays.asList("Carlos","Ana","Bruno");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names.sort((a, b) -&gt; a.compareToIgnoreCase(b));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names.forEach(System.out::println); // method reference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Lambdas não são executadas no ponto da declaração — são execução diferida (deferred execution).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Sintaxe da Lambda Expression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Parâmetros, arrow token, body — todas as variações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Anatomia de uma Lambda Expression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749808"/>
            <a:ext cx="6858000" cy="685800"/>
          </a:xfrm>
          <a:prstGeom prst="rect">
            <a:avLst/>
          </a:prstGeom>
          <a:solidFill>
            <a:srgbClr val="162D1E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80467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o1, o2 )   →   o1.compareToIgnoreCase( o2 )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283464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① Lista de Parâmetros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836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Parênteses obrigatórios se: 0 params, ≥2 params, ou tipo explícito. Para 1 param sem tipo → parênteses opcionais.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283464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② Arrow Token 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8836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 símbolo → separa os parâmetros do corpo. Nunca use =&gt;.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283464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③ Body (expressão ou bloco)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8366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Expressão simples: sem return, sem {}. Bloco: usa {} e return obrigatório se houver retorno.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8412480" cy="242316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14600"/>
            <a:ext cx="8138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① Variações da lista de parâmetros: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   -&gt; ...   // nenhum parâmetro   → parênteses obrigatórios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             -&gt; ...   // 1 param, sem tipo  → parênteses OPCIONAIS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           -&gt; ...   // 1 param, sem tipo  → parênteses opcionais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x)     -&gt; ...   // 1 param, com tipo  → parênteses obrigatórios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x)        -&gt; ...   // 1 param, com var   → parênteses obrigatórios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         -&gt; ...   // 2+ params          → parênteses obrigatórios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② Body — expressão simples (sem return, sem {}):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(o1, o2) -&gt; o1.compareToIgnoreCase(o2)   // retorna int implicitamente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③ Body — bloco com {} (return obrigatório se houver retorno):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(o1, o2)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System.out.println("Comparando...");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o1.compareToIgnoreCase(o2);   // return explícito necessário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Regra: se usar tipo explícito em UM parâmetro, TODOS devem ter tipo explícito. Mesmo vale para var.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Todas as Variações Válidas de Parâmetros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96596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583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Qtd de parâmetros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658368"/>
            <a:ext cx="342900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658368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Sintaxe válida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658368"/>
            <a:ext cx="333756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752" y="65836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143000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17043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-&gt; expression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143000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1170432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Parênteses obrigatórios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19659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92224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— sem tipo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1764792"/>
            <a:ext cx="34290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792224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-&gt; expression  ou  (x) -&gt; expression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764792"/>
            <a:ext cx="33375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1792224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Parênteses opcionais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86584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14016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— tipo explícito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386584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414016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x) -&gt; expression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386584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2414016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Parênteses obrigatórios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08376"/>
            <a:ext cx="19659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035808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— var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008376"/>
            <a:ext cx="34290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035808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x) -&gt; expression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008376"/>
            <a:ext cx="33375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035808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Parênteses obrigatórios; permite anotações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30168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57600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ou mais — sem tipo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630168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3657600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 y) -&gt; expression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630168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3657600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Parênteses obrigatórios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51960"/>
            <a:ext cx="19659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279392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ou mais — tipo explícito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377440" y="4251960"/>
            <a:ext cx="34290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0592" y="427939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x, int y) -&gt; expression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4251960"/>
            <a:ext cx="33375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16752" y="4279392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 devem ter tipo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873752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901184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ou mais — var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77440" y="4873752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4901184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x, var y) -&gt; expression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0" y="4873752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16752" y="4901184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Todos devem usar var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⚠️  Misturar var com tipo explícito, ou tipo explícito com inferido, resulta em ERRO de compilação.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Variações do Lambda Body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96596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5836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Tipo de body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658368"/>
            <a:ext cx="342900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658368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Exemplo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658368"/>
            <a:ext cx="333756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752" y="65836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Regra de retorno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simples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143000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17043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-&gt; a +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143000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1170432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da expressão é retornado implicitamente. Sem return!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19659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92224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simples — void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1764792"/>
            <a:ext cx="34290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792224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-&gt; System.out.println(name)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764792"/>
            <a:ext cx="33375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1792224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 retorno — método void.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86584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14016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com retorno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386584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414016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(a,b) -&gt; { int r=a+b; return r; 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386584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2414016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obrigatório dentro do bloco.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08376"/>
            <a:ext cx="19659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035808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sem retorno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008376"/>
            <a:ext cx="34290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3035808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-&gt; { System.out.println(x); 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008376"/>
            <a:ext cx="333756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035808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 void — sem return necessário.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30168"/>
            <a:ext cx="19659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57600"/>
            <a:ext cx="1847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630168"/>
            <a:ext cx="34290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3657600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-&gt; switch(x){ case 1 -&gt; 'A'; default -&gt; 'Z'; }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630168"/>
            <a:ext cx="333756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3657600"/>
            <a:ext cx="32186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expression retorna implicitamente.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⚠️  Usar return numa expressão simples (sem {}) causa erro de compilação. Usar {} sem return em interface que espera valor também é erro.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Functional Interfaces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SAM — Single Abstract Method — o alvo de toda lambda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é uma Functional Interface?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É uma interface com exatamente UM método abstrato — chamado de functional method ou SAM.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Java infere qual método a lambda implementa com base no contexto (tipo da variável / parâmetro).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Pode ter outros métodos default e static — desde que haja apenas 1 abstract.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@FunctionalInterface: anotação opcional que garante que a interface tenha apenas 1 método abstrato.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Pacote java.util.function fornece +40 interfaces funcionais prontas para uso.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Sua própria functional interface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@FunctionalInterface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StringTransformer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transform(String input);   // ← único método abstrato (SAM)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Pode ter métodos default e static sem problema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String transformAndLog(String 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System.out.println("Transformando: " + 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transform(s);          // chama o SAM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com lambda: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StringTransformer upper = s -&gt; s.toUpperCase();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StringTransformer trim  = String::trim;   // method reference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System.out.println(upper.transform("hello")); // HELLO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Como Java infere: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upper é do tipo StringTransformer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StringTransformer tem 1 método abstrato: transform(String)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Logo, a lambda implementa transform — parâmetro é String, retorna String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⚠️  Se adicionar um 2º método abstrato em uma @FunctionalInterface, o compilador lança erro. Use a anotação para proteção.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Consumer &amp; Predicate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void accept(T) e boolean test(T) — executar e testar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 4 Categorias de Functional Interfaces (java.util.function)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69164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58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658368"/>
            <a:ext cx="205740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6272" y="65836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 principal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658368"/>
            <a:ext cx="233172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65836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Propósito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658368"/>
            <a:ext cx="269748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65836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Exemplos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143000"/>
            <a:ext cx="169164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170432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1143000"/>
            <a:ext cx="20574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1170432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accept(T 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143000"/>
            <a:ext cx="2331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170432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Executar código SEM retornar resultado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269748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1170432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Consumer, BiConsumer, IntConsumer...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764792"/>
            <a:ext cx="169164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792224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1764792"/>
            <a:ext cx="20574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1792224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apply(T 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1764792"/>
            <a:ext cx="2331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1792224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Transformar entrada em resultado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764792"/>
            <a:ext cx="269748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1792224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Function, BiFunction, UnaryOperator...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386584"/>
            <a:ext cx="169164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414016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386584"/>
            <a:ext cx="20574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2414016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test(T 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2386584"/>
            <a:ext cx="2331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2414016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Testar condição → retorna true/false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386584"/>
            <a:ext cx="269748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2414016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Predicate, BiPredicate, IntPredicate...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008376"/>
            <a:ext cx="169164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35808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03120" y="3008376"/>
            <a:ext cx="20574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3035808"/>
            <a:ext cx="1938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get()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97680" y="3008376"/>
            <a:ext cx="2331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3035808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Fornecer/produzir instância (sem argumento)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3008376"/>
            <a:ext cx="269748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9712" y="3035808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Supplier, IntSupplier, BooleanSupplier...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Há mais de 40 interfaces nesse pacote — todas variações dessas 4 categorias (com primitivos, bi-variantes etc.)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Consumer — void accept(T 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Consumer&lt;T&gt;: recebe 1 argumento, não retorna nada (void).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BiConsumer&lt;T,U&gt;: recebe 2 argumentos, não retorna nada.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Uso típico: forEach, logging, side effects.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Método de conveniência: andThen() — encadeia Consumers.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Cada Consumer no chain é independente (não passa resultado).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Variantes primitivas: IntConsumer, LongConsumer, DoubleConsumer.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Consumer&lt;T&gt;: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void accept(T t)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Declaração de variável 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print = s -&gt; System.out.println(s);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shout = s -&gt; System.out.println(s.toUpperCase());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Uso direto 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print.accept("hello");   // hello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shout.accept("hello");   // HELLO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andThen: encadeia dois Consumers 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printAndShout = print.andThen(shout);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printAndShout.accept("world");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world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WORLD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BiConsumer&lt;T,U&gt; 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BiConsumer&lt;String,Integer&gt; printWithAge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(name, age) -&gt; System.out.println(name + " tem " + age + " anos");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printWithAge.accept("Ana", 25); // Ana tem 25 anos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Com forEach 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names = List.of("Ana","Bruno","Carlos");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names.forEach(name -&gt; System.out.println("Olá, " + name));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names.forEach(System.out::println); // method reference equivalente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Consumer.andThen() difere de Function.andThen(): não encadeia resultados — cada Consumer roda independentemente.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Predicate — boolean test(T 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Predicate&lt;T&gt;: recebe 1 argumento, retorna boolean.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BiPredicate&lt;T,U&gt;: recebe 2 argumentos, retorna boolean.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Uso típico: filter, removeIf, validações.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Métodos de conveniência para composição: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  • and(p2): this &amp;&amp; p2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  • or(p2): this || p2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  • negate(): !this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Permite combinar condições de forma fluente e legível.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Predicate&lt;T&gt;: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boolean test(T t)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Predicados simples 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isHello  = s -&gt; s.equalsIgnoreCase("hello");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isLong   = s -&gt; s.length() &gt; 5;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Predicate&lt;Integer&gt; isAdult = age -&gt; age &gt;= 18;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isHello.test("HELLO"); // true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isAdult.test(17);      // false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Composição de predicados 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isHelloAndLong = isHello.and(isLong);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isHelloOrLong  = isHello.or(isLong);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isNotHello     = isHello.negate();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isHelloAndLong.test("Hello World"); // false (hello ≠ "Hello World")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isHelloOrLong.test("Hello World");  // true (length &gt; 5)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isNotHello.test("world");           // true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Uso com removeIf 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words = new ArrayList&lt;&gt;(List.of("a","bb","ccc","dddd"));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words.removeIf(s -&gt; s.length() &lt; 3); // remove "a" e "bb"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System.out.println(words); // [ccc, dddd]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Predicate.and() é mais legível que &amp;&amp; em lambdas longas — evita parênteses e melhora a intenção do código.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Function &amp; Supplier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R apply(T t) e T get() — transformar e produzir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Function — R apply(T 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Function&lt;T,R&gt;: recebe T, retorna R (pode ser tipo diferente).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BiFunction&lt;T,U,R&gt;: recebe 2 args, retorna 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UnaryOperator&lt;T&gt;: entrada e saída do MESMO tipo (extends Function&lt;T,T&gt;).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BinaryOperator&lt;T&gt;: 2 entradas do mesmo tipo, retorna T (extends BiFunction).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andThen(f2): executa this, depois f2 com o resultado.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compose(f1): executa f1, depois usa o resultado em this.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Resultado de f.andThen(g) = g(f(x)).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Function&lt;T,R&gt;: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R apply(T t)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String[]&gt; split = s -&gt; s.split(",");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Integer&gt;  len   = String::length;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split.apply("a,b,c");  // ["a","b","c"]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len.apply("hello");    // 5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UnaryOperator&lt;T&gt; — mesmo tipo 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UnaryOperator&lt;String&gt; trim  = String::trim;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UnaryOperator&lt;String&gt; upper = String::toUpperCase;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andThen: encadeia funções 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trim, depois upper: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String&gt; trimThenUpper = trim.andThen(upper);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trimThenUpper.apply("  hello  "); // "HELLO"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compose: ordem inversa 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upper.compose(trim) = trim primeiro, depois upper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String&gt; same = upper.compose(trim);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BinaryOperator&lt;T&gt; 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BinaryOperator&lt;Integer&gt; sum = (a, b) -&gt; a + b;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sum.apply(3, 4); // 7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Aplicando em lista com replaceAll 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names = new ArrayList&lt;&gt;(List.of("  Ana  ", "bruno"));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names.replaceAll(trimThenUpper);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System.out.println(names); // [ANA, BRUNO]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andThen vs compose: f.andThen(g) = g(f(x)).  f.compose(g) = f(g(x)). Pense em andThen como 'depois faça'.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Supplier — T get()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Supplier&lt;T&gt;: não recebe argumentos, retorna instância de T.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Pense como um factory method — produz um objeto.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Não precisa retornar instância nova a cada chamada.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Pode capturar variáveis do escopo externo (effectively final).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Útil para lazy initialization — só cria quando necessário.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Variantes: BooleanSupplier, IntSupplier, LongSupplier, DoubleSupplier.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Supplier&lt;T&gt;: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T get()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Supplier simples 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Supplier&lt;String&gt; greeting = () -&gt; "Olá, mundo!";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System.out.println(greeting.get()); // Olá, mundo!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Capturando variável do escopo 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(effectively final — não reatribuída após uso)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random = new Random();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Supplier&lt;Integer&gt; dice = () -&gt; random.nextInt(6) + 1;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System.out.println(dice.get()); // número entre 1 e 6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Como factory method 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Supplier&lt;ArrayList&lt;String&gt;&gt; listFactory = ArrayList::new; // method ref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list1 = listFactory.get(); // nova lista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list2 = listFactory.get(); // outra nova lista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Lazy initialization 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Supplier encapsula criação custosa — só ocorre ao chamar get()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Supplier&lt;DatabaseConnection&gt; connSupplier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new DatabaseConnection("jdbc:...");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Conexão só criada quando: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DatabaseConnection conn = connSupplier.get();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Lambdas podem usar variáveis do escopo externo, mas apenas se forem final ou effectively final — assim como local classes.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Sintaxe :: — 4 tipos, da estática à construtora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que é um Method Reference?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Method reference é uma lambda ainda mais concisa para métodos já definidos numa classe.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Usa :: (dois pontos duplos) entre o tipo/instância e o nome do método.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O compilador infere os parâmetros e o retorno com base na functional interface alvo.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Código mais legível: lê-se como 'use esse método para implementar essa interface'.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Existem 4 tipos: static, bounded receiver (instância), unbounded receiver, constructor.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Lambda vs Method Reference — equivalentes: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c1 = s -&gt; System.out.println(s);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c2 = System.out::println;   // method reference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 que a sintaxe funciona?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tem um método: void accept(String s)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System.out.println(String s) — mesma assinatura!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infere: o parâmetro s é passado para println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Deferred Execution — a execução não ocorre na declaração: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printer = System.out::println; // código NÃO roda aqui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printer.accept("Agora sim!");                   // código roda AQUI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Regra de compatibilidade: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método referenciado deve ter assinatura compatível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o functional method da interface alvo.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Method references nunca executam no ponto de declaração — são como lambdas, execução diferida.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Os 4 Tipos de Method 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76656"/>
            <a:ext cx="429768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0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① Static 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Sintaxe: ClassName::staticMethod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3502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Integer::parseInt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Math::abs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Integer::sum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23160" y="131673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33502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equiv.: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Integer.parseInt(s)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-&gt; Math.abs(x)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(a,b) -&gt; Integer.sum(a,b)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676656"/>
            <a:ext cx="4297680" cy="1920240"/>
          </a:xfrm>
          <a:prstGeom prst="rect">
            <a:avLst/>
          </a:prstGeom>
          <a:solidFill>
            <a:srgbClr val="1B5E20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40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② Bounded Receiver (instância conhecida)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0424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Sintaxe: instance::instanceMethod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1673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33502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System.out::println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myList::add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"prefix"::concat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03720" y="131673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33502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equiv.: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System.out.println(s)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myList.add(s)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"prefix".concat(s)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688336"/>
            <a:ext cx="4297680" cy="1920240"/>
          </a:xfrm>
          <a:prstGeom prst="rect">
            <a:avLst/>
          </a:prstGeom>
          <a:solidFill>
            <a:srgbClr val="0D3B1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52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③ Unbounded Receiver (instância = 1º argumento)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0540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Sintaxe: ClassName::instanceMethod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4670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String::toUpperCase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String::length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String::concat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23160" y="332841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334670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equiv.: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s.toUpperCase()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s.length()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(s1,s2) -&gt; s1.concat(s2)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688336"/>
            <a:ext cx="4297680" cy="1920240"/>
          </a:xfrm>
          <a:prstGeom prst="rect">
            <a:avLst/>
          </a:prstGeom>
          <a:solidFill>
            <a:srgbClr val="2D5A2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52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</a:rPr>
              <a:t>④ Constructor Reference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0540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Sintaxe: ClassName::new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32841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34670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ArrayList::new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Person::new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String::new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03720" y="3328416"/>
            <a:ext cx="2011680" cy="1170432"/>
          </a:xfrm>
          <a:prstGeom prst="rect">
            <a:avLst/>
          </a:prstGeom>
          <a:solidFill>
            <a:srgbClr val="0D1F14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346704"/>
            <a:ext cx="1920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equiv.: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-&gt; new ArrayList&lt;&gt;()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(n,a) -&gt; new Person(n,a)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-&gt; new String(s)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⚠️  ③ Unbounded: o 1º parâmetro da interface se torna a instância que chama o método. Parece estático mas não é — é o ponto de maior confusão!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 Unbounded Receiver — A maior confusão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Parece uma referência estática mas NÃO é — é um método de instância.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O 1º argumento passado à lambda torna-se a instância que chama o método.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Por isso é obrigatório que a interface tenha ao menos 1 parâmetro.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String::toUpperCase parece chamar toUpperCase na classe — mas chama na instância passada.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String::concat exige interface de 2 parâmetros: 1º = instância, 2º = argumento de concat.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907792"/>
            <a:ext cx="8412480" cy="1412748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99232"/>
            <a:ext cx="813816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 RECEIVER — instância vem do 1º argumento da lambda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 1: String::toUpperCase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Parece: String.toUpperCase()   ← estático? NÃO!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Realidade: s -&gt; s.toUpperCase()   — 's' é a instância!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UnaryOperator&lt;String&gt; toUpper = String::toUpperCase;  // interface de 1 param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toUpper.apply("hello"); // s="hello" → "hello".toUpperCase() = "HELLO"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 2: String::concat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concat é: String concat(String other)  — método de instância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Precisa de interface de 2 parâmetros: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param 1 = instância que recebe concat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param 2 = argumento passado para concat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BinaryOperator&lt;String&gt; join = String::concat;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join.apply("Hello, ", "World!"); // "Hello, ".concat("World!") = "Hello, World!"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Comparação que esclarece: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ESTÁTICO:  Integer::sum     →  (a,b) -&gt; Integer.sum(a,b)   // classe chama o método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UNBOUNDED: String::concat   →  (s1,s2) -&gt; s1.concat(s2)    // 1º arg é a instância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⚠️  Se o método não é static e você usa ClassName::method, é Unbounded Receiver. O 1º parâmetro da interface é sempre a instância.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Method References por Tipo de Interface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33172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65836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Tipo de Referência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658368"/>
            <a:ext cx="169164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6583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Supplier (0 args)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658368"/>
            <a:ext cx="214884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6583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Consumer/Function/Predicate (1 arg)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658368"/>
            <a:ext cx="251460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432" y="658368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BiFunction/BiConsumer (2 args)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143000"/>
            <a:ext cx="2331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170432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(ClassName::staticMethod)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97480" y="1143000"/>
            <a:ext cx="169164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1170432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ClassName::staticMethod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143000"/>
            <a:ext cx="214884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170432"/>
            <a:ext cx="2029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ClassName::staticMethod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143000"/>
            <a:ext cx="25146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1170432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ClassName::staticMethod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764792"/>
            <a:ext cx="2331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1792224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(ClassName::new)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1764792"/>
            <a:ext cx="169164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1792224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ClassName::new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764792"/>
            <a:ext cx="214884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1792224"/>
            <a:ext cx="2029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ClassName::new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1764792"/>
            <a:ext cx="25146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1792224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ClassName::new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386584"/>
            <a:ext cx="2331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414016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(instance::method)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386584"/>
            <a:ext cx="169164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414016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instance::method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2386584"/>
            <a:ext cx="214884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2414016"/>
            <a:ext cx="2029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instance::method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2386584"/>
            <a:ext cx="25146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2414016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instance::method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008376"/>
            <a:ext cx="2331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035808"/>
            <a:ext cx="2212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(ClassName::instanceMethod)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97480" y="3008376"/>
            <a:ext cx="169164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3035808"/>
            <a:ext cx="15727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 (sem instância)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3008376"/>
            <a:ext cx="214884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3035808"/>
            <a:ext cx="2029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ClassName::instanceMethod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12280" y="3008376"/>
            <a:ext cx="25146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3035808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ClassName::instanceMethod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(1º param = instância)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n/a = não aplicável. Unbounded requer ao menos 1 parâmetro na interface (para ser a instância). Supplier não pode usar Unbounded.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Chaining &amp; Comparator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andThen, compose, and, or, negate — combinando lambdas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Métodos de Conveniência nas Functional Interfaces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60020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583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658368"/>
            <a:ext cx="251460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658368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658368"/>
            <a:ext cx="4617720" cy="438912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58368"/>
            <a:ext cx="4498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Comportamento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16002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1481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143000"/>
            <a:ext cx="25146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170432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f1.andThen(f2)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617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170432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 f1, passa resultado para f2. Saída de f1 = entrada de f2.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16002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792224"/>
            <a:ext cx="1481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0" y="1764792"/>
            <a:ext cx="25146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1792224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f2.compose(f1)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764792"/>
            <a:ext cx="4617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792224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 f1 primeiro, depois f2. Equivale a f2.andThen com ordem invertida.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386584"/>
            <a:ext cx="16002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14016"/>
            <a:ext cx="1481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2386584"/>
            <a:ext cx="25146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2414016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c1.andThen(c2)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386584"/>
            <a:ext cx="4617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414016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Executa c1, depois c2 — ambos independentes (sem troca de resultado).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08376"/>
            <a:ext cx="16002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035808"/>
            <a:ext cx="1481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3008376"/>
            <a:ext cx="25146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3035808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p1.and(p2)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008376"/>
            <a:ext cx="4617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035808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somente se AMBOS forem true (short-circuit).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30168"/>
            <a:ext cx="16002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57600"/>
            <a:ext cx="1481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11680" y="3630168"/>
            <a:ext cx="251460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3657600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p1.or(p2)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630168"/>
            <a:ext cx="4617720" cy="576072"/>
          </a:xfrm>
          <a:prstGeom prst="rect">
            <a:avLst/>
          </a:prstGeom>
          <a:solidFill>
            <a:srgbClr val="E8F5E9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657600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se AO MENOS UM for true (short-circuit).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51960"/>
            <a:ext cx="16002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279392"/>
            <a:ext cx="1481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11680" y="4251960"/>
            <a:ext cx="251460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4279392"/>
            <a:ext cx="23957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p1.negate()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4251960"/>
            <a:ext cx="4617720" cy="576072"/>
          </a:xfrm>
          <a:prstGeom prst="rect">
            <a:avLst/>
          </a:prstGeom>
          <a:solidFill>
            <a:srgbClr val="F0F4E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279392"/>
            <a:ext cx="44988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Inverte o resultado: true→false, false→true.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⚠️  Function.andThen não está disponível em IntFunction, DoubleFunction ou LongFunction. Use Function ou UnaryOperator.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Comparator — Métodos de Conveniência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Comparator.comparing(keyExtractor): cria Comparator por campo.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thenComparing(other): desempata com segundo critério.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thenComparing(keyExtractor): desempata por campo.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reversed(): inverte a ordem do Comparator.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Comparator.naturalOrder(): ordem natural (Comparable).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Comparator.reverseOrder(): ordem natural invertida.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3B2E"/>
                </a:solidFill>
              </a:rPr>
              <a:t>Todos retornam Comparator — encadeamento fluente.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80560" y="658368"/>
            <a:ext cx="4434840" cy="34747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74980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java.util.Comparator;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List&lt;Person&gt; people = new ArrayList&lt;&gt;();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add people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Comparator.comparing — por campo 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Ordena por lastName (String), alfabeticamente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Comparator&lt;Person&gt; byLast = Comparator.comparing(Person::getLastName);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thenComparing — desempate 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1º por lastName, 2º por firstName em empate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Comparator&lt;Person&gt; byLastThenFirst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Comparator.comparing(Person::getLastName)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.thenComparing(Person::getFirstName);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reversed() 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Comparator&lt;Person&gt; byLastDesc = byLast.reversed();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reverseOrder + thenComparing 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Comparator&lt;String&gt; byLengthThenAlpha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Comparator.comparingInt(String::length)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.thenComparing(Comparator.naturalOrder());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people.sort(byLastThenFirst);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people.forEach(p -&gt; System.out.println(p.getLastName()+", "+p.getFirstName()));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315968"/>
            <a:ext cx="854964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61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Encadeie Comparators com thenComparing para ordenação multi-critério sem escrever lógica condicional manual.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Encadeando Lambdas — Exemplo Completo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andThen em Function: output de f1 vira input de f2.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andThen em Consumer: ambos executam; sem troca de resultado.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Predicate.and/or: combinação booleana de filtros.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8412480" cy="221742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94560"/>
            <a:ext cx="8138160" cy="203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Function chaining com andThen 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UnaryOperator&lt;String&gt; trim   = String::trim;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UnaryOperator&lt;String&gt; upper  = String::toUpperCase;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 String[]&gt; split = s -&gt; s.split(",");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Pipeline: trim → upper → split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Function&lt;String,String[]&gt; pipeline = trim.andThen(upper).andThen(split);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result = pipeline.apply("  ana, bruno, carlos  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 = ["ANA", " BRUNO", " CARLOS"]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Consumer chaining com andThen 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log   = s -&gt; System.out.println("[LOG] " + 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store = s -&gt; database.save(s);  // fictício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Consumer&lt;String&gt; logAndStore = log.andThen(store);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logAndStore.accept("Novo registro");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[LOG] Novo registro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(salva no banco)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Predicate composition ───────────────────────────────────────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notEmpty   = s -&gt; !s.isBlank();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startsWithA = s -&gt; s.startsWith("A");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isShort    = s -&gt; s.length() &lt;= 5;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Predicate&lt;String&gt; filter = notEmpty.and(startsWithA).and(isShort);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names = List.of("Ana","","Alberto","Bo","Alice","Al");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names.stream().filter(filter).forEach(System.out::println);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Ana, Al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Chaining torna o código declarativo: você descreve O QUE quer, não COMO fazer — semelhante a stream pipelines.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2B788"/>
                </a:solidFill>
              </a:rPr>
              <a:t>08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754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8F71"/>
                </a:solidFill>
              </a:rPr>
              <a:t>S E Ç Ã 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Desafios Práticos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</a:rPr>
              <a:t>Mini Challenges + Lambda Challenge + Method Reference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 Challenges 1 a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76656"/>
            <a:ext cx="42062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76656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766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713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Anonymous → Lambda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Converta a anonymous class abaixo em lambda expression.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023360" cy="8686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Anonymouss class: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 = new Runnable()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void run()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System.out.println("Running!");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Lambda: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r = () -&gt; System.out.println("Running!");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709160" y="676656"/>
            <a:ext cx="42062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676656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6766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713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Criar lambda de Function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Crie variável com tipo correto para: recebe String, retorna cada segundo char.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572768"/>
            <a:ext cx="4023360" cy="8686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002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Recebe String, retorna cada 2º char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Function&lt;String,String&gt; every2nd =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-&gt;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StringBuilder sb = new StringBuilder();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for(int i=1; i&lt;s.length(); i+=2)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sb.append(s.charAt(i));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sb.toString();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74320" y="2688336"/>
            <a:ext cx="42062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88336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883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Executar a lambda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Execute a Function do Challenge 2 com "1234567890" e imprima o resultado.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84448"/>
            <a:ext cx="4023360" cy="8686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1188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Executando o Function: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 = every2nd.apply("1234567890");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System.out.println(result); // 24680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09160" y="2688336"/>
            <a:ext cx="4206240" cy="1920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688336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68833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 que aceita Function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Crie everySecondCharacter(Function&lt;String,String&gt;, String) — sem hardcode da String.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84448"/>
            <a:ext cx="4023360" cy="8686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1188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 reutilizável: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everySecondCharacter(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Function&lt;String,String&gt; func,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value)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func.apply(value);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Chamada: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everySecondCharacter(every2nd, "1234567890");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Mini Challenges 5 a 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76656"/>
            <a:ext cx="854964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76656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766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713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Chamar everySecondCharacter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Chame o método do Challenge 4 passando a lambda do Challenge 2 e "1234567890". Imprima o resultado.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731520"/>
            <a:ext cx="4480560" cy="10972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768096"/>
            <a:ext cx="4297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everySecondCharacter(every2nd, "1234567890");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System.out.println(r); // 24680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854964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66544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6654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03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Supplier → "I love Java"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32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Declare Supplier&lt;String&gt; chamado iLoveJava que retorna a string "I love Java".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121408"/>
            <a:ext cx="4480560" cy="10972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157984"/>
            <a:ext cx="4297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Supplier&lt;String&gt; iLoveJava = () -&gt; "I love Java";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Ainda não executa — deferred execution!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854964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456432"/>
            <a:ext cx="502920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564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493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Executar o Supplier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71"/>
                </a:solidFill>
              </a:rPr>
              <a:t>Use o Supplier para atribuir a String a supplierResult e imprima.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06240" y="3511296"/>
            <a:ext cx="4480560" cy="1097280"/>
          </a:xfrm>
          <a:prstGeom prst="rect">
            <a:avLst/>
          </a:prstGeom>
          <a:solidFill>
            <a:srgbClr val="0D1F14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547872"/>
            <a:ext cx="4297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supplierResult = iLoveJava.get(); // agora executa!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System.out.println(supplierResult); // I love Java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402836"/>
            <a:ext cx="8412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4855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0"/>
                </a:solidFill>
              </a:rPr>
              <a:t>💡  Lambdas e Suppliers são execução diferida: declarar NÃO executa. O código roda apenas quando o functional method é chamado (get(), apply(), accept()...).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438912"/>
          </a:xfrm>
          <a:prstGeom prst="rect">
            <a:avLst/>
          </a:prstGeom>
          <a:solidFill>
            <a:srgbClr val="1A2E2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Lambda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Lambda Expression Challenge — Put it All Together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F71"/>
                </a:solidFill>
              </a:rPr>
              <a:t>Manipule array de nomes usando lambdas com Arrays.setAll, List.replaceAll e removeIf.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39319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Crie array de String com nomes em mixed case (inclua pelo menos um palíndromo: 'Bob', 'Anna').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Use Arrays.setAll ou List.replaceAll com lambdas para: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① Transformar todos para UPPERCASE.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② Adicionar inicial do meio gerada aleatoriamente (ex: 'ANA B. ANA').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③ Adicionar sobrenome = reverso do primeiro nome.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Use forEach com lambda para imprimir após cada mudança.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Crie ArrayList modifiável e use removeIf para remover onde sobrenome == primeiro nome.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749808"/>
            <a:ext cx="4434840" cy="406908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841248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LambdaChallenge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String[] names = {"Anna","Bob","Carlos","Diana","Eve"};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① UPPERCASE com Arrays.setAll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Arrays.setAll(names, i -&gt; names[i].toUpperCase());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Arrays.asList(names).forEach(System.out::println);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② Adicionar inicial do meio aleatória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Random rand = new Random();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Arrays.setAll(names, i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char mid = (char)('A' + rand.nextInt(26));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names[i] + " " + mid + ".";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③ Sobrenome = reverso do primeiro token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Arrays.setAll(names, i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first = names[i].split(" ")[0];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 rev = new StringBuilder(first).reverse().toString();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names[i] + " " + rev;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Arrays.asList(names).forEach(System.out::println);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removeIf: sobrenome == primeiro nome → palíndromos!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List&lt;String&gt; list = new ArrayList&lt;&gt;(Arrays.asList(names));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list.removeIf(n -&gt;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String[] parts = n.split(" 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parts[0].equals(parts[parts.length-1]);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list.forEach(System.out::println);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438912"/>
          </a:xfrm>
          <a:prstGeom prst="rect">
            <a:avLst/>
          </a:prstGeom>
          <a:solidFill>
            <a:srgbClr val="1A2E2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B788"/>
                </a:solidFill>
              </a:rPr>
              <a:t>Method Ref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25603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 Reference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F71"/>
                </a:solidFill>
              </a:rPr>
              <a:t>Misture lambdas e method references em lista de Functions aplicadas a cada nome.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393192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Crie array de nomes em mixed case.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Crie List&lt;Function&lt;String,String&gt;&gt; (ou UnaryOperator) com operações: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• Uppercase — use method reference.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• Inicial do meio aleatória — lambda.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• Sobrenome = reverso — lambda.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  • Transformações customizadas à sua escolha.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Crie método que recebe o array e a lista de Functions.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Aplique cada Function a cada nome com String.transform().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Altere o array original — sem criar novo.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749808"/>
            <a:ext cx="4434840" cy="4069080"/>
          </a:xfrm>
          <a:prstGeom prst="rect">
            <a:avLst/>
          </a:prstGeom>
          <a:solidFill>
            <a:srgbClr val="0D1F1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841248"/>
            <a:ext cx="4160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java.util.function.*;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MethodRefChallenge {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Método personalizado para reverso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String reverse(String 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 StringBuilder(s).reverse().toString();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void applyTransforms(String[] names,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List&lt;UnaryOperator&lt;String&gt;&gt; ops)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String.transform() aplica Function à string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(var op : ops)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Arrays.setAll(names, i -&gt; names[i].transform(op));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String[] names = {"Carlos","ana","BRUNO","diana"};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Random rand = new Random();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List&lt;UnaryOperator&lt;String&gt;&gt; transforms = new ArrayList&lt;&gt;();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Method references: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transforms.add(String::toUpperCase);  // Unbounded receiver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transforms.add(String::trim);          // Unbounded receiver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Lambdas: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transforms.add(s -&gt; s + " " + (char)('A'+rand.nextInt(26)) + ".");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transforms.add(s -&gt; s + " " + reverse(s.split(" ")[0]));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applyTransforms(names, transforms);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Arrays.asList(names).forEach(System.out::println);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52B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548640"/>
            <a:ext cx="2560320" cy="3840480"/>
          </a:xfrm>
          <a:prstGeom prst="rect">
            <a:avLst/>
          </a:prstGeom>
          <a:solidFill>
            <a:srgbClr val="243B2A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24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Lambda Expression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(params) → expression ou { bloco; }. Atalho para anonymous class de @FunctionalInterface.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52704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27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Functional Interface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1 único método abstrato (SAM). Java infere qual método a lambda implementa pelo contexto.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029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Consumer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240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void accept(T) — executa, não retorna. andThen() encadeia independentemente.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32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Predicate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boolean test(T) — testa condição. and(), or(), negate() para composição.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Function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246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R apply(T) — transforma T em R. andThen(), compose() para pipeline.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Supplier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749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T get() — produz instância sem argumento. Lazy init, factory.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41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Method Reference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2519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4 tipos: static, bounded, unbounded, constructor. Usa sintaxe ::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544568"/>
            <a:ext cx="109728" cy="3657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544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Chaining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47548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71"/>
                </a:solidFill>
              </a:rPr>
              <a:t>andThen/compose (Function), and/or/negate (Predicate), Comparator.comparing().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</a:rPr>
              <a:t>Java — Lambda Expressions, Functional Interfaces &amp; Method References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Lambda Expressions, Functional Interfaces &amp; Method References</dc:title>
  <dc:subject>PptxGenJS Presentation</dc:subject>
  <dc:creator>PptxGenJS</dc:creator>
  <cp:lastModifiedBy>PptxGenJS</cp:lastModifiedBy>
  <cp:revision>1</cp:revision>
  <dcterms:created xsi:type="dcterms:W3CDTF">2026-04-28T23:02:08Z</dcterms:created>
  <dcterms:modified xsi:type="dcterms:W3CDTF">2026-04-28T23:02:08Z</dcterms:modified>
</cp:coreProperties>
</file>