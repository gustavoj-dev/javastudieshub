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5874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Java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4572000" cy="36576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Completo: do básico ao avançado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136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cronológica de aprendizado • Exemplos práticos • Boas práticas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438912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43891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Genéricas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438912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43891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(Bounds)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0" y="438912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43891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0060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006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Erasure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651760" y="480060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48006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4800600"/>
            <a:ext cx="2011680" cy="301752"/>
          </a:xfrm>
          <a:prstGeom prst="roundRect">
            <a:avLst/>
          </a:prstGeom>
          <a:solidFill>
            <a:srgbClr val="0D7C8F">
              <a:alpha val="3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48006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Aprendizado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1155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aos Generics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3258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são, por que existem, ArrayList como exemplo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459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6642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Criando Classes Genéricas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8745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Sintaxe, parâmetros de tipo, convenções T, E, K, V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19456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1945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Superiores (Bounds)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42316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extends, bounded types, múltiplos bounds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7432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614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Referência Genéricos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29718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List&lt;LPAStudent&gt; ≠ List&lt;Student&gt;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9184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2918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3101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Genéricos &amp; Wildcards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352044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&lt;?&gt;, &lt;? extends T&gt;, &lt;? super T&gt;, type erasure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84048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8404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38587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&amp; Comparator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40690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Ordenação natural vs. personalizada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389120"/>
            <a:ext cx="502920" cy="4114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3891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4074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Final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46177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tudo em um projeto completo de mapeamento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aos Generics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são, por que existem e como surgiu a necessidade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 Generics?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62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suporta tipos genéricos: classes, records e interfaces parametrizadas.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856232"/>
            <a:ext cx="8321040" cy="62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suporta métodos genéricos — lógica reutilizável para qualquer tipo.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569464"/>
            <a:ext cx="8321040" cy="62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Introduzidos no Java 5 (2004) para resolver problemas de segurança de tipo.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3282696"/>
            <a:ext cx="8321040" cy="62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dos Generics, coleções armazenavam Object e requeriam casting manual.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995928"/>
            <a:ext cx="8321040" cy="62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mais claro de classe genérica na JDK é o ArrayList&lt;T&gt;.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Generics existem? O problema sem eles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Generics — código perigoso e verboso: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9344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lista = new ArrayList();  // sem tipo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93976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lista.add("texto");  lista.add(42);  // mistura tipos!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42032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78608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 = (String) lista.get(0);  // casting manual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026664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63240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ClassCastException em tempo de execução!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566160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Generics — seguro e limpo: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5760" y="3995928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032504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lista = new ArrayList&lt;&gt;();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480560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517136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lista.add("texto");  // OK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965192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5001768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lista.add(42);  → Erro de COMPILAÇÃO — seguro!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Criando Classes Genéricas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Sintaxe, parâmetros de tipo e convenções de nomenclatura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Declarando uma Classe Genérica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comum vs. classe genérica — a diferença está no &lt;T&gt;: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9344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Classe comum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93976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Caixa { Object conteudo; 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42032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78608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026664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63240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Classe genérica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511296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47872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Caixa&lt;T&gt; { T conteudo; }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4050792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é o identificador de tipo — um marcador de posição para o tipo real.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" y="4535424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qualquer letra/palavra, mas T (de Type) é a convenção mais usada.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completo: Classe Genérica Box&lt;T&gt;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caixa que pode guardar qualquer tipo — String, Integer, ou qualquer objeto: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81328"/>
            <a:ext cx="8595360" cy="2377440"/>
          </a:xfrm>
          <a:prstGeom prst="rect">
            <a:avLst/>
          </a:prstGeom>
          <a:solidFill>
            <a:srgbClr val="0F1B2D"/>
          </a:solidFill>
          <a:ln w="12700">
            <a:solidFill>
              <a:srgbClr val="0D7C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18488"/>
            <a:ext cx="8229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Box&lt;T&gt;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T conteudo;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Box(T conteudo) { this.conteudo = conteudo;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T getConteudo() { return conteudo;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setConteudo(T conteudo) { this.conteudo = conteudo;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9E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Box&lt;String&gt; caixaTexto = new Box&lt;&gt;("Olá!");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Box&lt;Integer&gt; caixaNum  = new Box&lt;&gt;(42);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4023360"/>
            <a:ext cx="8595360" cy="685800"/>
          </a:xfrm>
          <a:prstGeom prst="rect">
            <a:avLst/>
          </a:prstGeom>
          <a:solidFill>
            <a:srgbClr val="F59E0B">
              <a:alpha val="20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0965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compilador substitui T pelo tipo real em tempo de compilação — segurança garantida!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 de Nomenclatura dos Parâmetros de Tipo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 — Type (Tipo genérico padrão)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61848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— Element (usado em coleções: List&lt;E&gt;, Set&lt;E&gt;)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09397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 — Key (usado em mapas: Map&lt;K, V&gt;)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— Value (usado em mapas: Map&lt;K, V&gt;)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— Number (para tipos numéricos)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U, V  — 2º, 3º, 4º tipos quando há múltiplos parâmetros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941064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977640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com múltiplos parâmetros: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Par&lt;K, V&gt; { K chave; V valor; 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uma Classe Genérica como Tipo de Referência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parametrizado é declarado entre &lt; &gt; na variável: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9344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ArrayList&lt;String&gt; nomes = new ArrayList&lt;&gt;();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93976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^^^^^^^^ tipo de referência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42032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78608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^^^^^^ parâmetro de tipo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081528"/>
            <a:ext cx="832104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 Operator &lt;&gt; (Java 7+): o compilador infere o tipo: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5760" y="3511296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47872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Antes do Java 7: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995928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032504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l = new ArrayList&lt;String&gt;();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480560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517136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Java 7+: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965192"/>
            <a:ext cx="8412480" cy="445861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5001768"/>
            <a:ext cx="8229600" cy="426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l = new ArrayList&lt;&gt;();  // mais limpo!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Bruto (Raw Type) — O que evitar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 classe genérica sem especificar o tipo é chamado de Raw Use: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lista = new ArrayList();  // ⚠️ Raw Type — evite!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9397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do Raw Type: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verificação de tipo em tempo de compilação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 de casting manual — verboso e propenso a erros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ClassCastException em tempo de execução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avisos do compilador (unchecked warnings)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5760" y="4416552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453128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Types existem apenas por retrocompatibilidade com código pré-Java 5.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Superiores (Bounds)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Restringindo tipos com extends e múltiplos limites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limitar o tipo genérico?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limite: T pode ser qualquer coisa — Object, String, Integer…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61848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um limite superior, garantimos que T tem certos comportamentos: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Sem limite — T pode ser qualquer tipo: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Time&lt;T&gt; { List&lt;T&gt; membros; 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6557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0215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 limite — T deve ser Jogador ou subtipo: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Time&lt;T extends Jogador&gt; { List&lt;T&gt; membros; }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47141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do limite superior: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1480" y="494690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aos métodos do tipo limitado dentro da classe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542239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dos tipos aceitos — maior segurança de tipo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Superior (Upper Bound) com extends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extends aqui NÃO significa herança de classe — significa 'é do tipo ou subtipo de':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81328"/>
            <a:ext cx="8595360" cy="2377440"/>
          </a:xfrm>
          <a:prstGeom prst="rect">
            <a:avLst/>
          </a:prstGeom>
          <a:solidFill>
            <a:srgbClr val="0F1B2D"/>
          </a:solidFill>
          <a:ln w="12700">
            <a:solidFill>
              <a:srgbClr val="0D7C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18488"/>
            <a:ext cx="8229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Jogador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getNome();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getNumero();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Time&lt;T extends Jogador&gt;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List&lt;T&gt; membros = new ArrayList&lt;&gt;();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adicionar(T membro) { membros.add(membro);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Podemos chamar getNome() porque T extends Jogador: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listar() { membros.forEach(m -&gt; System.out.println(m.getNome()));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4023360"/>
            <a:ext cx="8595360" cy="685800"/>
          </a:xfrm>
          <a:prstGeom prst="rect">
            <a:avLst/>
          </a:prstGeom>
          <a:solidFill>
            <a:srgbClr val="F59E0B">
              <a:alpha val="20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0965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Jogador pode ser uma interface ou classe — a sintaxe com extends é a mesma!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Limites Superiores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possível exigir que T implemente várias interfaces (e/ou estenda uma classe):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 deve ser Serializable E Comparable&lt;T&gt;: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Repositorio&lt;T extends Comparable&lt;T&gt; &amp; Serializable&gt; { ... 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dos múltiplos bounds: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Separados por &amp; (e comercial)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UMA classe pode ser incluída (no máximo)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classe, se houver, deve ser listada PRIMEIRO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447141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ou mais interfaces podem ser incluídas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Classe primeiro, interfaces depois: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536752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540410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Foo&lt;T extends MinhaClasse &amp; Interface1 &amp; Interface2&gt; { ... 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Estáticos e Tipos Genéricos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estáticos NÃO podem usar os parâmetros de tipo da classe: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Container&lt;T&gt; {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❌ ERRADO — static não acessa T da classe: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static T criar() { return null; 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✅ CORRETO — método genérico próprio: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46557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0215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&lt;E&gt; Container&lt;E&gt; criar(E elemento) {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Container&lt;&gt;();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5367528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404104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declare o parâmetro de tipo no próprio método estático.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Referência Genéricos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armadilha da 'herança' entre coleções genéricas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NÃO é herança!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que LPAStudent herda de Student: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LPAStudent aluno = new LPAStudent(); // OK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s = aluno;  // OK — herança normal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isso NÃO funciona com coleções genéricas: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List&lt;LPAStudent&gt; lpas = new ArrayList&lt;&gt;();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6557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0215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ERRO DE COMPILAÇÃO: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List&lt;Student&gt; students = lpas;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272809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que? Segurança de tipo — se fosse permitido: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65760" y="4548213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" y="45429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Poderíamos adicionar Student comum a lista de LPAStudent!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536752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540410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students.add(new Student(...));  // corromperia lpas!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 de Classe vs. Tipos Genéricos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4114800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Herança FUNCIONA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LPAStudent é Student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482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aceita Student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52374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Passa LPAStudent: OK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9992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 implementa List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4747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Passa ArrayList&lt;T&gt;: OK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51560"/>
            <a:ext cx="4114800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Coleções genéricas NÃO herdam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57276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List&lt;LPAStudent&gt; ≠ List&lt;Student&gt;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0482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que LPAStudent seja Student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52374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Contêiner de A ≠ Contêiner de 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9992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que A seja subclasse de 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4747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 wildcards para resolver!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Genéricos &amp; Wildcards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de tipo em métodos, curingas e type erasure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 de Tipo vs. Argumento de Tipo vs. Wildcard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 de tipo: a declaração do tipo em uma classe/método genérico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Box&lt;T&gt; { ... }        // T é o parâmetro de tipo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&lt;T&gt; void imprimir(T item)  // T é o parâmetro de tipo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Argumento de tipo: o tipo real especificado na referência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Box&lt;String&gt; b = new Box&lt;&gt;();  // String é o argumento de tipo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(?): tipo desconhecido — usado apenas em argumentos de tipo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processar(List&lt;?&gt; lista) { ... }  // qualquer 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416552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453128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NÃO pode ser usado na declaração do parâmetro de tipo!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Genéricos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de tipo em métodos ficam ANTES do tipo de retorno: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Modificador → &lt;Tipo&gt; → RetornoTipo → Nome → Parâmetros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&lt;T&gt; void imprimirArray(T[] array) { ... 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&lt;T extends Comparable&lt;T&gt;&gt; T maximo(T a, T b) { ... }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 métodos genéricos: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métodos estáticos de classes genéricas (não podem usar T da classe)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classes não-genéricas, para impor regras de tipo em um método específico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447141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coleções que aceitam variações de tipo sem usar raw types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4892040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928616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 de um método genérico é INDEPENDENTE do T da classe!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Tipos de Wildcard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irrestrito — qualquer tipo: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imprimir(List&lt;?&gt; lista) { ... 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9397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com limite superior — T ou subtipo de T: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somar(List&lt;? extends Number&gt; nums) { ... 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Aceita: List&lt;Integer&gt;, List&lt;Double&gt;, List&lt;Float&gt;...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com limite inferior — T ou supertipo de T: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adicionar(List&lt;? super Integer&gt; lista) { ... }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Aceita: List&lt;Integer&gt;, List&lt;Number&gt;, List&lt;Object&gt;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4892040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928616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PECS: Producer Extends, Consumer Super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do Wildcard e Regra PECS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PECS — Producer Extends, Consumer Super: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61848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&lt;? extends T&gt; quando você LÊ (produz) dados da coleção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soma(List&lt;? extends Number&gt; src) {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src.stream().mapToDouble(Number::doubleValue).sum();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&lt;? super T&gt; quando você ESCREVE (consome) dados na coleção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copiar(List&lt;? extends T&gt; src, List&lt;? super T&gt; dest) {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(T item : src) dest.add(item);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5367528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04104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NÃO pode ser usado ao instanciar: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65760" y="584301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587959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INVÁLIDO:  new ArrayList&lt;?&gt;();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Erasure — Apagamento de Tipo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são verificados em tempo de compilação — não existem no bytecode!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832104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compilador transforma classes genéricas em classes tipadas: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002536"/>
            <a:ext cx="832104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sem bound → substituído por Object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432304"/>
            <a:ext cx="832104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com bound (ex: T extends Number) → substituído por Number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807208"/>
            <a:ext cx="8412480" cy="395387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843784"/>
            <a:ext cx="822960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Código Java (com Generics):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36976"/>
            <a:ext cx="8412480" cy="395387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273552"/>
            <a:ext cx="822960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Box&lt;T&gt; { T item; }        → class Box { Object item; }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666744"/>
            <a:ext cx="8412480" cy="395387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703320"/>
            <a:ext cx="822960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Num&lt;T extends Number&gt; { } → class Num { Number t; 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4096512"/>
            <a:ext cx="8412480" cy="386791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33088"/>
            <a:ext cx="8046720" cy="36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métodos sobrecarregados com tipos genéricos podem colidir: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4526280"/>
            <a:ext cx="8412480" cy="395387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562856"/>
            <a:ext cx="822960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Ambos viram process(List) após erasure: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956048"/>
            <a:ext cx="8412480" cy="395387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992624"/>
            <a:ext cx="822960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process(List&lt;String&gt; l) { }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5385816"/>
            <a:ext cx="8412480" cy="395387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22392"/>
            <a:ext cx="8229600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process(List&lt;Integer&gt; l) { }  // ERRO!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&amp; Comparator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Ordenação natural e personalizada com interfaces genéricas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Interface Comparable&lt;T&gt;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define a ordem NATURAL de uma classe: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Comparable&lt;T&gt; {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compareTo(T outro);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do compareTo: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3294401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 → this é MENOR que o argumento (o)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3514769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    → this é IGUAL ao argumento (o)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723983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→ this é MAIOR que o argumento (o)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8056" y="4264221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" y="4279033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Arrays.sort(arr) e Collections.sort(list) requerem Comparable.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" y="542239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String, Integer, Double, Character já implementam Comparable.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Implementando Comparable&lt;T&gt;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Aluno ordenado naturalmente pelo ID: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81328"/>
            <a:ext cx="8595360" cy="2377440"/>
          </a:xfrm>
          <a:prstGeom prst="rect">
            <a:avLst/>
          </a:prstGeom>
          <a:solidFill>
            <a:srgbClr val="0F1B2D"/>
          </a:solidFill>
          <a:ln w="12700">
            <a:solidFill>
              <a:srgbClr val="0D7C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18488"/>
            <a:ext cx="8229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Aluno implements Comparable&lt;Aluno&gt;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int id;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nome;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@Override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int compareTo(Aluno outro)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Integer.compare(this.id, outro.id);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9E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List&lt;Aluno&gt; turma = new ArrayList&lt;&gt;();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Collections.sort(turma);  // ordena por ID automaticamente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4023360"/>
            <a:ext cx="8595360" cy="685800"/>
          </a:xfrm>
          <a:prstGeom prst="rect">
            <a:avLst/>
          </a:prstGeom>
          <a:solidFill>
            <a:srgbClr val="F59E0B">
              <a:alpha val="20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0965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prática: this.compareTo(o) == 0 deve resultar em this.equals(o) == true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vs. Comparator — Diferenças Chave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4114800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 pela própria classe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482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compareTo(T outro)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52374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ordem NATURAL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9992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critério de ordenação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4747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Arrays.sort(T[]) — requer Comparable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9502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é comparado com o argumento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05156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51560"/>
            <a:ext cx="4114800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157276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separada (ou lambda)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482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compare(T a, T b)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52374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ordens ALTERNATIVAS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9992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critérios possíveis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34747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Arrays.sort(T[], Comparator&lt;T&gt;)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39502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dois argumentos entre si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Interface Comparator&lt;T&gt;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 permite criar ordenações alternativas sem modificar a classe: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Como classe aninhada (prática comum):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Aluno {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Comparator&lt;Aluno&gt; porNome =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Comparator.comparing(a -&gt; a.nome);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46557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0215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Comparator com lambdas (Java 8+):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turma.sort((a, b) -&gt; a.getNome().compareTo(b.getNome()));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turma.sort(Comparator.comparing(Aluno::getNome)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536752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0410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.thenComparingInt(Aluno::getId));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5843016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879592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prática comum incluir Comparators como classes aninhadas estáticas.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Generics em projetos reais de mapeamento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Desafio: Classe Genérica de Mapeamento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sistema de mapeamento usando classes genéricas: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61848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Mappable com método abstrato render()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09397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abstrata Point (um par latitude/longitude)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abstrata Line (múltiplos pares lat/lng — array 2D)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Park que estende Point — com campo nome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River que estende Line — com campo nome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genérica Layer&lt;T extends Mappable&gt;: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" y="447141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privada de elementos do tipo 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494690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addElement(T) e método renderLayer()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Final: Unindo Tudo — QueryList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classes Student, LPAStudent, QueryItem, QueryList.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61848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a implementar: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09397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QueryList estender ArrayList, removendo o campo items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569464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campo id à classe Student e implementar Comparable&lt;Student&gt; por id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ao menos mais um Comparator (por curso, ano, ou % concluído)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matchFieldValue em LPAStudent: retornar alunos com % ≤ valor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25 alunos aleatórios, filtrar os com ≤ 50% concluído: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lista.sort(Comparator.naturalOrder());  // por ID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lista.sort(Comparator.comparing(Student::getCurso));  // por curso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20240" y="1371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Extra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7432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práticas, padrões reais e Java moderno com Generics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no Java Moderno (Java 8–21)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8 — Streams e lambdas trabalham intensamente com Generics: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Stream&lt;String&gt; nomes = lista.stream().filter(s -&gt; s.length() &gt; 3);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93976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9+ — List.of(), Map.of() retornam tipos genéricos imutáveis: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fixo = List.of("a", "b", "c");  // imutável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044952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10 — var infere o tipo genérico automaticamente: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346557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50215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nomes = new ArrayList&lt;String&gt;();  // tipo inferido pelo compilador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16 — Records são automaticamente genéricos: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Par&lt;A, B&gt;(A primeiro, B segundo) { }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Par&lt;String, Integer&gt; p = new Par&lt;&gt;("idade", 25);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de Projeto que usam Generics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 — repositório genérico reutilizável: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Repository&lt;T, ID&gt; {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Optional&lt;T&gt; findById(ID id);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List&lt;T&gt; findAll();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save(T entity);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46557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0215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995928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Pattern genérico — fluent API type-safe: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Builder&lt;T extends Builder&lt;T&gt;&gt; { ... 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892040"/>
            <a:ext cx="8412480" cy="427939"/>
          </a:xfrm>
          <a:prstGeom prst="rect">
            <a:avLst/>
          </a:prstGeom>
          <a:solidFill>
            <a:srgbClr val="A8E6CF">
              <a:alpha val="70000"/>
            </a:srgbClr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928616"/>
            <a:ext cx="8046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genérico, Factory genérica, Dao genérico — todos usam Generics para criar código altamente reutilizável.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Comuns com Generics — Evite!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Instanciar tipo genérico diretamente: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56362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ERRADO — não é possível instanciar T: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obj = new T();  // ERRO de compilação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5117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Use fábrica ou reflexão: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9008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2666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obj = supplier.get();  // ex: () -&gt; new MinhaClasse()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520440"/>
            <a:ext cx="832104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Array de tipos genéricos: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5760" y="3941064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ERRADO — arrays genéricos não são permitidos: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416552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53128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T[] array = new T[10];  // ERRO de compilação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892040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928616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Use List ou cast com aviso: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5367528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04104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@SuppressWarnings("unchecked")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5843016"/>
            <a:ext cx="8412480" cy="437449"/>
          </a:xfrm>
          <a:prstGeom prst="rect">
            <a:avLst/>
          </a:prstGeom>
          <a:solidFill>
            <a:srgbClr val="1E3A5F"/>
          </a:solidFill>
          <a:ln w="6350">
            <a:solidFill>
              <a:srgbClr val="0D7C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5879592"/>
            <a:ext cx="822960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T[] array = (T[]) new Object[10];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com Generics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32520" y="256032"/>
            <a:ext cx="256032" cy="256032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especifique o tipo — evite Raw Types em código novo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636776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interfaces genéricas (List&lt;T&gt;) a implementações (ArrayList&lt;T&gt;) nas declarações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130552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PECS: Producer Extends, Consumer Super para wildcards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624328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o escopo do wildcard — seja o mais específico possível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118104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 as restrições do tipo com @param &lt;T&gt; no Javadoc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3611880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bounds sobre wildcards quando precisar usar o tipo no método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4105656"/>
            <a:ext cx="8321040" cy="434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Comparator.comparing() ao invés de lambdas manuais para clareza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Final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em Java — o que você aprendeu: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646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 eliminam casting manual e tornam o código type-safe em tempo de compilação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956816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20240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e métodos genéricos usam parâmetros de tipo (T, E, K, V...) como marcadores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450592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14016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 (extends) restringem os tipos aceitos e liberam acesso a métodos do tipo limitado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44368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90779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List&lt;LPAStudent&gt; NÃO é subtipo de List&lt;Student&gt; — use wildcards para contornar isso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438144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0156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Wildcards: &lt;?&gt; irrestrito, &lt;? extends T&gt; leitura, &lt;? super T&gt; escrita (PECS)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89534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Erasure: Generics são removidos pelo compilador — não existem no bytecode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4425696"/>
            <a:ext cx="201168" cy="201168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389120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define ordem natural; Comparator define ordens alternativas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2A45"/>
          </a:solidFill>
          <a:ln w="12700">
            <a:solidFill>
              <a:srgbClr val="0F2A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Java Masterclass — Generics em Java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3469</Words>
  <Application>Microsoft Office PowerPoint</Application>
  <PresentationFormat>Apresentação na tela (16:9)</PresentationFormat>
  <Paragraphs>456</Paragraphs>
  <Slides>39</Slides>
  <Notes>39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3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Generics em Java</dc:title>
  <dc:subject>PptxGenJS Presentation</dc:subject>
  <dc:creator>Java Masterclass</dc:creator>
  <cp:lastModifiedBy>gustavo jesus</cp:lastModifiedBy>
  <cp:revision>2</cp:revision>
  <dcterms:created xsi:type="dcterms:W3CDTF">2026-04-15T12:13:14Z</dcterms:created>
  <dcterms:modified xsi:type="dcterms:W3CDTF">2026-04-20T20:49:28Z</dcterms:modified>
</cp:coreProperties>
</file>