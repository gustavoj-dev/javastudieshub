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59436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1: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Classes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11480" y="2697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• Objetos • Construtores • Herança • Encapsulamento • Polimorfismo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30632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conceito de classe até herança, polimorfismo e desafios práticos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411480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E5C35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1148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60320" y="411480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E5C35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41148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411480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E5C35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41148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0" y="4114800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E5C35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4114800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44988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E5C35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4988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vs super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0" y="44988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E5C35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44988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44988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E5C35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44988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0" y="4498848"/>
            <a:ext cx="1965960" cy="292608"/>
          </a:xfrm>
          <a:prstGeom prst="roundRect">
            <a:avLst>
              <a:gd name="adj" fmla="val 15625"/>
            </a:avLst>
          </a:prstGeom>
          <a:solidFill>
            <a:srgbClr val="1E5C35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4498848"/>
            <a:ext cx="1965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49440" y="457200"/>
            <a:ext cx="1645920" cy="1645920"/>
          </a:xfrm>
          <a:prstGeom prst="rect">
            <a:avLst/>
          </a:prstGeom>
          <a:solidFill>
            <a:srgbClr val="1E5C3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914400"/>
            <a:ext cx="1645920" cy="1645920"/>
          </a:xfrm>
          <a:prstGeom prst="rect">
            <a:avLst/>
          </a:prstGeom>
          <a:solidFill>
            <a:srgbClr val="1A4A2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1371600"/>
            <a:ext cx="1645920" cy="1645920"/>
          </a:xfrm>
          <a:prstGeom prst="rect">
            <a:avLst/>
          </a:prstGeom>
          <a:solidFill>
            <a:srgbClr val="1A3A2A"/>
          </a:solidFill>
          <a:ln w="12700">
            <a:solidFill>
              <a:srgbClr val="2ECC7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Aprendizado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822960"/>
            <a:ext cx="475488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87552" y="8321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 Classes e Objetos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instâncias, getters, setters, null e valores padrão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11480" y="1426464"/>
            <a:ext cx="475488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26464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43560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87552" y="162763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Constructor, default constructor, sobrecarga de construtores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475488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29968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03911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vs super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87552" y="223113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 this e super, chamadas this() e super(), constructor chaining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633472"/>
            <a:ext cx="475488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33472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87552" y="2642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87552" y="283464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extends, override de métodos, code reuse, polimorfismo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236976"/>
            <a:ext cx="475488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36976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324612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Instance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87552" y="343814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 métodos estáticos vs. de instância, POJO, java.lang.Object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3840480"/>
            <a:ext cx="475488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40480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87552" y="38496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vs Overriding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87552" y="4041648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Diferenças, regras, covariant return type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11480" y="4443984"/>
            <a:ext cx="475488" cy="411480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443984"/>
            <a:ext cx="475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87552" y="44531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Práticos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87552" y="4645152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30-37: Sum, Person, Wall, Point, Carpet, Complex, Cylinder, Cuboid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11480" y="48920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30352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Ç Ã 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 Classes e Objetos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24688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instâncias, getters, setters, null e valores padrão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Classe?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classe é um blueprint (modelo) para criar objetos — define os atributos e comportamentos.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são instâncias de uma classe, criados com o operador new.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instância é um objeto criado a partir de uma classe; os termos são intercambiáveis.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variável que armazena o endereço do objeto na memória — não o objeto em si.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181051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Criando uma instância da classe House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 blueHouse = new House("blue");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Duas referências para o MESMO objeto: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 anotherHouse = blueHouse;   // copia a referência, não o objeto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4279392"/>
            <a:ext cx="8321040" cy="365760"/>
          </a:xfrm>
          <a:prstGeom prst="rect">
            <a:avLst/>
          </a:prstGeom>
          <a:solidFill>
            <a:srgbClr val="E0F5E8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93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Analogia: a classe é a planta de uma casa; cada objeto é uma casa construída a partir dessa planta.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e Valores Padrão dos Campos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é uma palavra-chave especial em Java — significa que a variável tem um tipo mas nenhum objeto atribuído.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primitivos NUNCA são null; recebem valores padrão automaticamente.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→ false | byte/short/int/long/char → 0 | double/float → 0.0 | String/Object → null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181051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Aluno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nome;      // null por padrão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idade;        // 0 por padrão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boolean ativo;    // false por padrão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nota;      // 0.0 por padrão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4279392"/>
            <a:ext cx="8321040" cy="365760"/>
          </a:xfrm>
          <a:prstGeom prst="rect">
            <a:avLst/>
          </a:prstGeom>
          <a:solidFill>
            <a:srgbClr val="E0F5E8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93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Tentar chamar um método em uma variável null lança NullPointerException em tempo de execução.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e Setters — Por que Usá-los?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Getter: método que recupera o valor de um campo privado e o retorna.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Setter: método que define o valor de um campo privado.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é controlar e proteger o acesso aos campos — princípio de Encapsulamento.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Setters permitem validar dados antes de atribuir (ex: rejeitar idades negativas).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231343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2112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Pessoa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nome;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idade;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getNome() { return nome;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setNome(String nome) { this.nome = nome;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getIdade() { return idade;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setIdade(int idade)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(idade &gt;= 0) this.idade = idade;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30352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Ç Ã 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24688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Constructor, default constructor, sobrecarga e constructor chaining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Construtor?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construtor é usado na criação de um objeto — é um bloco especial com o mesmo nome da classe.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tipo de retorno — nem mesmo void.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uma classe não declarar nenhum construtor, o Java implicitamente declara um construtor padrão sem argumentos.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qualquer outro construtor for declarado, o construtor padrão NÃO é gerado automaticamente.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181051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Carro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modelo;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ano;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Construtor padrão (gerado pelo Java se não houver outro)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Carro() {}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Construtor com parâmetros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Carro(String modelo, int ano)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this.modelo = modelo;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this.ano = ano;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4279392"/>
            <a:ext cx="8321040" cy="365760"/>
          </a:xfrm>
          <a:prstGeom prst="rect">
            <a:avLst/>
          </a:prstGeom>
          <a:solidFill>
            <a:srgbClr val="E0F5E8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93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Sobrecarga de construtores: declare múltiplos construtores com parâmetros diferentes.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this() vs super() — Constructor Chaining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this() para chamar outro construtor sobrecarregado NA MESMA classe.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super() para chamar um construtor da CLASSE PAI.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as chamadas devem ser a PRIMEIRA instrução do construtor.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construtor NÃO pode ter tanto this() quanto super() ao mesmo tempo.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181051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Retangulo extends Forma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largura, altura;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Retangulo()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this(0, 0, 1, 1);  // chama construtor abaixo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Retangulo(int x, int y, double larg, double alt)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super(x, y);       // chama construtor de Forma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this.largura = larg;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this.altura = alt;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4279392"/>
            <a:ext cx="8321040" cy="365760"/>
          </a:xfrm>
          <a:prstGeom prst="rect">
            <a:avLst/>
          </a:prstGeom>
          <a:solidFill>
            <a:srgbClr val="E0F5E8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93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Constructor chaining reduz código duplicado: o último construtor da cadeia inicializa todas as variáveis.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30352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Ç Ã 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vs super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24688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entre as palavras-chave e as chamadas de construtor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 this e super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super: acessa membros (variáveis e métodos) da CLASSE PAI.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this: acessa membros da CLASSE ATUAL.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é obrigatório quando um parâmetro tem o mesmo nome de um campo da instância.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as palavras-chave NÃO podem ser usadas em métodos ou blocos estáticos.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231343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2112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String nome;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fazerSom() { System.out.println("Som genérico");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Cachorro extends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fazerSom()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super.fazerSom();          // chama método do pai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System.out.println("Au!"); // comportamento adicional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setNome(String nome)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this.nome = nome;          // this resolve ambiguidade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30352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Ç Ã 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24688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extends, override de métodos, reuso de código e polimorfismo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em Java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 permite que uma classe (subclasse) herde atributos e métodos de outra (superclasse).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palavra-chave extends para declarar a herança.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objetos em Java herdam implicitamente de java.lang.Object.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podem executar métodos da classe pai sem duplicar o código.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181051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protected String nome;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comer() { System.out.println(nome + " está comendo");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Cachorro extends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raca;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herda comer() de Animal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latir() { System.out.println("Au au!");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4279392"/>
            <a:ext cx="8321040" cy="365760"/>
          </a:xfrm>
          <a:prstGeom prst="rect">
            <a:avLst/>
          </a:prstGeom>
          <a:solidFill>
            <a:srgbClr val="E0F5E8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93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IS-A: Cachorro IS-A Animal — a subclasse é um tipo mais específico da superclasse.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de Método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Override: criar um método na subclasse com a MESMA assinatura de um método na superclasse.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@Override — não é obrigatório, mas o compilador alertará sobre erros na assinatura.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estáticos NÃO podem ser sobrescritos (apenas métodos de instância).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sobrescrito pode: ter comportamento diferente, chamar o pai com super, ou estender o comportamento do pai.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181051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toString()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"Animal: " + nome;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Cachorro extends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toString()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super.toString() + ", Raça: " + raca;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4279392"/>
            <a:ext cx="8321040" cy="365760"/>
          </a:xfrm>
          <a:prstGeom prst="rect">
            <a:avLst/>
          </a:prstGeom>
          <a:solidFill>
            <a:srgbClr val="E0F5E8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93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Polimorfismo em tempo de execução: a JVM decide qual método chamar com base no tipo real do objeto.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30352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Ç Ã 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Instance • POJO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24688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 métodos estáticos vs de instância; Plain Old Java Object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 Métodos Estáticos vs de Instância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static: compartilhada por TODAS as instâncias da classe (uma única cópia).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de instância: cada objeto tem sua própria cópia, representando seu estado.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static: não acessa variáveis de instância nem usa this; chamado com ClassName.metodo().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instância: pertence a um objeto específico; pode acessar campos estáticos e de instância.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181051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Contador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int total = 0;    // compartilhado por todos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id;                   // único por instância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Contador()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total++;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this.id = total;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int getTotal() { return total; }  // método estático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getId() { return id; }                // método de instância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4279392"/>
            <a:ext cx="8321040" cy="365760"/>
          </a:xfrm>
          <a:prstGeom prst="rect">
            <a:avLst/>
          </a:prstGeom>
          <a:solidFill>
            <a:srgbClr val="E0F5E8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93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 um método não usa variáveis de instância, provavelmente deve ser declarado como static.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 — Plain Old Java Object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POJO: classe que geralmente contém apenas campos de instância para armazenar dados.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chamado de JavaBean, Entity, ou DTO (Data Transfer Object).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para transportar dados entre camadas da aplicação e mapear tabelas de banco de dados.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como IntelliJ podem gerar automaticamente getters, setters e construtores.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181051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POJO para entidade Aluno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Aluno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id;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nome;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dataNascimento;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getters e setters gerados automaticamente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toString()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"Aluno[id=" + id + ", nome=" + nome + "]";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4279392"/>
            <a:ext cx="8321040" cy="365760"/>
          </a:xfrm>
          <a:prstGeom prst="rect">
            <a:avLst/>
          </a:prstGeom>
          <a:solidFill>
            <a:srgbClr val="E0F5E8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93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 anotação @Override avisa o compilador para validar que o método realmente sobrescreve um da superclasse.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java.lang.Object — A Raiz de Tudo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classe em Java estende implicitamente java.lang.Object.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classe String possui mais de 60 métodos e sobrescreve equals() e toString() de Object.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importantes herdados de Object: toString(), equals(), hashCode(), clone().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pode sobrescrever esses métodos nas suas classes para customizar o comportamento.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231343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2112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Object é a superclasse de toda classe Java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MinhaClasse {  // extends Object implicitamente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valor;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toString()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"MinhaClasse{valor='" + valor + "'}";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boolean equals(Object obj)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(this == obj) return true;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(!(obj instanceof MinhaClasse)) return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this.valor.equals(((MinhaClasse)obj).valor);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30352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Ç Ã 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vs Overriding — Recap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24688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Diferenças, regras e covariant return type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vs Overriding — Comparação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377440" cy="384048"/>
          </a:xfrm>
          <a:prstGeom prst="rect">
            <a:avLst/>
          </a:prstGeom>
          <a:solidFill>
            <a:srgbClr val="1A3A2A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2331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97480" y="777240"/>
            <a:ext cx="2834640" cy="384048"/>
          </a:xfrm>
          <a:prstGeom prst="rect">
            <a:avLst/>
          </a:prstGeom>
          <a:solidFill>
            <a:srgbClr val="1A3A2A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7772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32120" y="777240"/>
            <a:ext cx="2834640" cy="384048"/>
          </a:xfrm>
          <a:prstGeom prst="rect">
            <a:avLst/>
          </a:prstGeom>
          <a:solidFill>
            <a:srgbClr val="1A3A2A"/>
          </a:solidFill>
          <a:ln w="635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77724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161288"/>
            <a:ext cx="2377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16128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método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97480" y="1161288"/>
            <a:ext cx="2834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11612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nome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32120" y="1161288"/>
            <a:ext cx="2834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1612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nome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545336"/>
            <a:ext cx="2377440" cy="384048"/>
          </a:xfrm>
          <a:prstGeom prst="rect">
            <a:avLst/>
          </a:prstGeom>
          <a:solidFill>
            <a:srgbClr val="EEF8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54533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97480" y="1545336"/>
            <a:ext cx="2834640" cy="384048"/>
          </a:xfrm>
          <a:prstGeom prst="rect">
            <a:avLst/>
          </a:prstGeom>
          <a:solidFill>
            <a:srgbClr val="EEF8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15453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1545336"/>
            <a:ext cx="2834640" cy="384048"/>
          </a:xfrm>
          <a:prstGeom prst="rect">
            <a:avLst/>
          </a:prstGeom>
          <a:solidFill>
            <a:srgbClr val="EEF8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54533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Iguais (mesma assinatura)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1929384"/>
            <a:ext cx="2377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19293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ocorre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97480" y="1929384"/>
            <a:ext cx="2834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88920" y="19293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classe (ou subclasse)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1929384"/>
            <a:ext cx="2834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19293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 e superclasse (IS-A)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2313432"/>
            <a:ext cx="2377440" cy="384048"/>
          </a:xfrm>
          <a:prstGeom prst="rect">
            <a:avLst/>
          </a:prstGeom>
          <a:solidFill>
            <a:srgbClr val="EEF8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3134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retorno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97480" y="2313432"/>
            <a:ext cx="2834640" cy="384048"/>
          </a:xfrm>
          <a:prstGeom prst="rect">
            <a:avLst/>
          </a:prstGeom>
          <a:solidFill>
            <a:srgbClr val="EEF8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8920" y="2313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diferente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32120" y="2313432"/>
            <a:ext cx="2834640" cy="384048"/>
          </a:xfrm>
          <a:prstGeom prst="rect">
            <a:avLst/>
          </a:prstGeom>
          <a:solidFill>
            <a:srgbClr val="EEF8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2313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ou covariante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2697480"/>
            <a:ext cx="2377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26974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 de acesso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697480" y="2697480"/>
            <a:ext cx="2834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88920" y="2697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32120" y="2697480"/>
            <a:ext cx="2834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26974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ser mais restritivo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3081528"/>
            <a:ext cx="2377440" cy="384048"/>
          </a:xfrm>
          <a:prstGeom prst="rect">
            <a:avLst/>
          </a:prstGeom>
          <a:solidFill>
            <a:srgbClr val="EEF8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3081528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decisão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97480" y="3081528"/>
            <a:ext cx="2834640" cy="384048"/>
          </a:xfrm>
          <a:prstGeom prst="rect">
            <a:avLst/>
          </a:prstGeom>
          <a:solidFill>
            <a:srgbClr val="EEF8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8920" y="3081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Compilação (compile-time)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532120" y="3081528"/>
            <a:ext cx="2834640" cy="384048"/>
          </a:xfrm>
          <a:prstGeom prst="rect">
            <a:avLst/>
          </a:prstGeom>
          <a:solidFill>
            <a:srgbClr val="EEF8F2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3560" y="3081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(runtime)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0040" y="3465576"/>
            <a:ext cx="23774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46557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chamado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97480" y="3465576"/>
            <a:ext cx="2834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88920" y="34655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de compilação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532120" y="3465576"/>
            <a:ext cx="28346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CCDD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346557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5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 de execução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para Overriding — O que é Obrigatório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749808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nome e mesmos parâmetros (mesma assinatura).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retorno igual ou covariante (subclasse do tipo pai).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ter modificador de acesso MAIS restritivo (ex: pai = protected → filho não pode ser private).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métodos de instância podem ser sobrescritos (static NÃO).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Construtores e métodos private/final NÃO podem ser sobrescritos.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395728"/>
            <a:ext cx="8321040" cy="1810512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05456"/>
            <a:ext cx="795528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Covariant return type — retorno covariante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Animal clone() { ...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Cachorro extends Animal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Cachorro clone() { ... } // ✅ Cachorro é subclasse de Animal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4279392"/>
            <a:ext cx="8321040" cy="365760"/>
          </a:xfrm>
          <a:prstGeom prst="rect">
            <a:avLst/>
          </a:prstGeom>
          <a:solidFill>
            <a:srgbClr val="E0F5E8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939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@Override não é obrigatório, mas o compilador sinaliza erro se a assinatura não corresponder — use sempre!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30352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Ç Ã 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Práticos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286000" y="246888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C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30 a 37 — Classes, validação, herança e cálculos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486460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solidFill>
            <a:srgbClr val="1E5C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Calculator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50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uma classe com um método que some dois números inteiros.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classe SumCalculator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int sumDigits(int a, int 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Retornar a soma dos dois parâmetros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 valores positivos, negativos e zero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04672"/>
            <a:ext cx="4206240" cy="2011680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32688"/>
            <a:ext cx="3931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SumCalculator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sumDigits(int a, int b)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 + b;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Uso: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SumCalculator calc = new SumCalculator();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System.out.println(calc.sumDigits(3, 5)); // 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solidFill>
            <a:srgbClr val="1E5C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Class + Age Validation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50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Person com nome e idade; setter de idade deve rejeitar valores inválidos.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String name, int 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Setter deve validar: 0 ≤ idade ≤ 100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inválido, manter valor anterior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 para ambos os campos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04672"/>
            <a:ext cx="4206240" cy="2011680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32688"/>
            <a:ext cx="3931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Person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String name;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int age;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setAge(int age)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(age &gt;= 0 &amp;&amp; age &lt;= 100)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this.age = age;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int getAge() { return age;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solidFill>
            <a:srgbClr val="1E5C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Area Computation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50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 área de uma parede a partir de altura e largura.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double height, double width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Validar: dimensões &gt; 0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double calculateArea()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Retornar height * width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04672"/>
            <a:ext cx="4206240" cy="2011680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32688"/>
            <a:ext cx="3931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Wall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height;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width;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Wall(double h, double w)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this.height = (h &gt; 0) ? h :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this.width  = (w &gt; 0) ? w :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calculateArea()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height * width;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solidFill>
            <a:srgbClr val="1E5C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Class + Distance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50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 distância entre dois pontos no plano cartesiano.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double x, double 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double distance(Point outro)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fórmula: √((x2-x1)² + (y2-y1)²)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 pontos conhecidos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04672"/>
            <a:ext cx="4206240" cy="2011680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32688"/>
            <a:ext cx="3931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Point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x, y;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distance(Point other)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dx = this.x - other.x;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dy = this.y - other.y;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Math.sqrt(dx*dx + dy*dy);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solidFill>
            <a:srgbClr val="1E5C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Carpet Cost Calculator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50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o custo de um tapete com base na área e preço por metro quadrado.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Herda de ou compõe Floor (largura, comprimento)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Campo: double costPerSquareMeter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double getTotalCost()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que dimensões e custo &gt; 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04672"/>
            <a:ext cx="4206240" cy="2011680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32688"/>
            <a:ext cx="3931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Carpet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cost;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Carpet(double cost)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this.cost = (cost &gt;= 0) ? cost :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getCost() { return cost;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Calculator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total(Floor f, Carpet c)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f.getArea() * c.getCost();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solidFill>
            <a:srgbClr val="1E5C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 Operations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50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 operações aritméticas com números complexos.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double real, double imaginary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Métodos: add(), subtract(), multiply()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Retornar novo objeto Complex com resultado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Sobrescrever toString(): "a + bi"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04672"/>
            <a:ext cx="4206240" cy="2011680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32688"/>
            <a:ext cx="3931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Complex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real, imaginary;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Complex add(Complex c)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 Complex(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real + c.real,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imaginary + c.imaginary);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@Override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toString()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real + " + " + imaginary + "i";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solidFill>
            <a:srgbClr val="1E5C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 extends Circle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50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 herda de Circle e adiciona altura para calcular volume.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campo radius, método area()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 extends Circle: campo height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double volume() = area() * height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super para acessar area() do pai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04672"/>
            <a:ext cx="4206240" cy="2011680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32688"/>
            <a:ext cx="3931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Circle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radius;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area()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Math.PI * radius * radius;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Cylinder extends Circle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height;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volume()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super.area() * height;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solidFill>
            <a:srgbClr val="1E5C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011680" y="228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Cuboid Pool Area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850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a área total de um cuboide (piscina) somando todas as faces.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double width, height, length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double getTopSurface()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double getTotalSurface()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2*(w*h + w*l + h*l)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04672"/>
            <a:ext cx="4206240" cy="2011680"/>
          </a:xfrm>
          <a:prstGeom prst="rect">
            <a:avLst/>
          </a:prstGeom>
          <a:solidFill>
            <a:srgbClr val="0D2418"/>
          </a:solidFill>
          <a:ln w="9525">
            <a:solidFill>
              <a:srgbClr val="2ECC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32688"/>
            <a:ext cx="3931920" cy="1755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Cuboid extends Rectangle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double height;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getTopSurface()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getWidth() * getLength();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double getTotalSurface()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w = getWidth(), l = getLength();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2*(w*height + w*l + height*l);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F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490118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3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800" kern="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Part 1 — Herança em Java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cobertos nesta seção: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1920240" cy="347472"/>
          </a:xfrm>
          <a:prstGeom prst="rect">
            <a:avLst/>
          </a:prstGeom>
          <a:solidFill>
            <a:srgbClr val="1E5C35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&amp; Objetos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2514600"/>
            <a:ext cx="1920240" cy="347472"/>
          </a:xfrm>
          <a:prstGeom prst="rect">
            <a:avLst/>
          </a:prstGeom>
          <a:solidFill>
            <a:srgbClr val="1E5C35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Construtores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2514600"/>
            <a:ext cx="1920240" cy="347472"/>
          </a:xfrm>
          <a:prstGeom prst="rect">
            <a:avLst/>
          </a:prstGeom>
          <a:solidFill>
            <a:srgbClr val="1E5C35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vs super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2514600"/>
            <a:ext cx="1920240" cy="347472"/>
          </a:xfrm>
          <a:prstGeom prst="rect">
            <a:avLst/>
          </a:prstGeom>
          <a:solidFill>
            <a:srgbClr val="1E5C35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990088"/>
            <a:ext cx="1920240" cy="347472"/>
          </a:xfrm>
          <a:prstGeom prst="rect">
            <a:avLst/>
          </a:prstGeom>
          <a:solidFill>
            <a:srgbClr val="1E5C35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90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vs Instance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2990088"/>
            <a:ext cx="1920240" cy="347472"/>
          </a:xfrm>
          <a:prstGeom prst="rect">
            <a:avLst/>
          </a:prstGeom>
          <a:solidFill>
            <a:srgbClr val="1E5C35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2990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POJO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990088"/>
            <a:ext cx="1920240" cy="347472"/>
          </a:xfrm>
          <a:prstGeom prst="rect">
            <a:avLst/>
          </a:prstGeom>
          <a:solidFill>
            <a:srgbClr val="1E5C35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990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vs Overriding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2990088"/>
            <a:ext cx="1920240" cy="347472"/>
          </a:xfrm>
          <a:prstGeom prst="rect">
            <a:avLst/>
          </a:prstGeom>
          <a:solidFill>
            <a:srgbClr val="1E5C35"/>
          </a:solidFill>
          <a:ln w="9525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990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30–37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Java Masterclass • OOP Part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Part 1 - Herança em Java</dc:title>
  <dc:subject>PptxGenJS Presentation</dc:subject>
  <dc:creator>PptxGenJS</dc:creator>
  <cp:lastModifiedBy>PptxGenJS</cp:lastModifiedBy>
  <cp:revision>1</cp:revision>
  <dcterms:created xsi:type="dcterms:W3CDTF">2026-04-21T20:31:25Z</dcterms:created>
  <dcterms:modified xsi:type="dcterms:W3CDTF">2026-04-21T20:31:25Z</dcterms:modified>
</cp:coreProperties>
</file>