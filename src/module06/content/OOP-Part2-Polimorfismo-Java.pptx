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011680" cy="1828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286000" cy="2011680"/>
          </a:xfrm>
          <a:prstGeom prst="rect">
            <a:avLst/>
          </a:prstGeom>
          <a:solidFill>
            <a:srgbClr val="243B2A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05840"/>
            <a:ext cx="1645920" cy="1645920"/>
          </a:xfrm>
          <a:prstGeom prst="rect">
            <a:avLst/>
          </a:prstGeom>
          <a:solidFill>
            <a:srgbClr val="1A2E2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2B788"/>
                </a:solidFill>
              </a:rPr>
              <a:t>J A V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OOP Part 2: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2B788"/>
                </a:solidFill>
              </a:rPr>
              <a:t>Polimorfismo,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Composição &amp;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2B788"/>
                </a:solidFill>
              </a:rPr>
              <a:t>Encapsulamento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71"/>
                </a:solidFill>
              </a:rPr>
              <a:t>Polimorfismo • Composição • Encapsulamento • instanceof • Casting • Packages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F71"/>
                </a:solidFill>
              </a:rPr>
              <a:t>Dos pilares da OOP ao desafio master com Bill's Burger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Introdução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416052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Composição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16052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Encapsulamento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416052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Polimorfismo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09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instanceof &amp; Casting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470916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4709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Packages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470916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709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Desafio Master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0"/>
                </a:solidFill>
              </a:rPr>
              <a:t>Roteiro de Aprendizado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6692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96012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Introdução — Os 3 Pilares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20700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Composição, Encapsulamento e Polimorfismo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45336"/>
            <a:ext cx="56692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453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54533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Composição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9222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HAS-A vs IS-A, design flexível, por que preferir composição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56692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13055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Encapsulamento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37744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Proteção de dados, acesso controlado, princípios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56692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1576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71576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Polimorfismo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626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Muitas formas, runtime type, override em ação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56692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0098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30098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instanceof &amp; Casting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54787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Teste de tipo em runtime, pattern matching, var, LVTI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56692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88620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Packages &amp; Import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1330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Organização de classes, FQCN, import statements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71416"/>
            <a:ext cx="56692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714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47141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Desafio Master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7183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Bill's Burger: Composição + Encapsulamento + Polimorfismo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Introdução — Os 3 Pilares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Composição, Encapsulamento e Polimorfismo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Os 3 Componentes Restantes da OOP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OOP Part 1 cobriu Classes, Objetos, Construtores, Herança e as bases do Polimorfismo.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OOP Part 2 aprofunda os 3 pilares restantes: Composição, Encapsulamento e Polimorfismo.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Composição — modelar objetos que SÃO FEITOS de outros objetos (HAS-A).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Encapsulamento — proteger dados internos e expor apenas o necessário.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Polimorfismo — código genérico que se comporta diferente para cada tipo em runtime.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Resumo visual dos 3 pilares em um único exemplo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MealOrder {              // ← Composição (HAS-A)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Burger burger;            //   MealOrder TEM um Burger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Item   drink;             //   MealOrder TEM um Item (drink)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Item   sideItem;          //   MealOrder TEM um Item (side)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← Encapsulamento: campos privados, acesso controlado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addToppingToBurger(String topping)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burger.addTopping(topping);   // delega sem expor burger diretamente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getTotalPrice()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← Polimorfismo: getAdjustedPrice() comporta-se diferente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  para Burger, DeluxeBurger, drink e sideItem em runtime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burger.getAdjustedPrice()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drink.getAdjustedPrice()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sideItem.getAdjustedPrice();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Os três pilares trabalham juntos — raramente você usará apenas um deles em isolamento.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Composição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HAS-A vs IS-A — construindo objetos a partir de partes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Herança IS-A vs Composição HAS-A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Herança define uma relação IS-A: Dog IS-A Animal.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Composição define uma relação HAS-A: PersonalComputer HAS-A Motherboard.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Composição modela partes que, juntas, formam um todo maior.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Regra geral: prefira composição antes de herança.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Você pode — e frequentemente deve — usar ambos no mesmo design.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IS-A via herança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manufacturer, model;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PersonalComputer extends Product { // IS-A Product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HAS-A via composição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Motherboard motherboard;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ComputerCase computerCase;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Monitor      monitor;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PersonalComputer(String make, String model,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Motherboard mb, ComputerCase cc, Monitor mon)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super(make, model);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this.motherboard  = mb;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this.computerCase = cc;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this.monitor      = mon;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Encapsula partes — chamador não precisa conhecê-las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powerUp()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computerCase.pressPowerButton();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motherboard.loadProgram("Boot");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O código chamador não precisa saber nada sobre as partes internas para usar PersonalComputer.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 que preferir Composição?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Composição é mais flexível: adicionar/remover partes tem menos impacto downstream.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Reuso funcional fora da hierarquia: classes compartilham comportamento via componentes, não herança.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Herança pode quebrar encapsulamento: subclasses podem precisar acessar estado interno do pai.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Herança é menos flexível: adicionar/remover classe na hierarquia impacta todas as subclasses.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Novo requisito pode não precisar de todos os atributos da classe pai — composição resolve isso.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Problema com herança pura: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 { int width, height, depth; } // dimensões físicas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DigitalProduct extends Product { }     // ❌ não tem dimensões!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Solução com composição: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Dimensions { int width, height, depth; } // classe separada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 { String model, manufacturer; }  // genérico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PhysicalProduct extends Product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Dimensions dimensions; // HAS-A — só quem precisa usa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DigitalProduct extends Product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sem dimensões — correto!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downloadUrl;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Design mais flexível: adicionar DigitalProduct não quebra nenhum código existente.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Desafio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Smart Kitchen — Composição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F71"/>
                </a:solidFill>
              </a:rPr>
              <a:t>Aplique composição para controlar eletrodomésticos numa cozinha inteligente (IoT).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SmartKitchen HAS-A: CoffeeMaker, Refrigerator, DishWasher.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addWater() → CoffeeMaker.hasWorkToDo = true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pourMilk()  → Refrigerator.hasWorkToDo = true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loadDishwasher() → DishWasher.hasWorkToDo = true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doKitchenWork() delega a cada eletrodoméstico.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Cada appliance tem seu próprio método de trabalho.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749808"/>
            <a:ext cx="4434840" cy="406908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841248"/>
            <a:ext cx="4160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SmartKitchen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CoffeeMaker  coffeeMaker  = new CoffeeMaker();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Refrigerator refrigerator = new Refrigerator();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DishWasher   dishWasher   = new DishWasher();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addWater()       { coffeeMaker.setHasWorkToDo(true);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pourMilk()       { refrigerator.setHasWorkToDo(true);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loadDishwasher() { dishWasher.setHasWorkToDo(true);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Acesso direto via getter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directWork()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coffeeMaker.brewCoffee();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refrigerator.orderFood();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dishWasher.doDishes();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Delegação — sem acesso direto às partes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doKitchenWork()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coffeeMaker.doWork();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refrigerator.doWork();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dishWasher.doWork();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Encapsulamento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Proteger dados, controlar acesso, garantir integridade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 que Encapsular?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Acesso direto a campos bypassa validações e lógica interna da classe.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Expor campos cria acoplamento: renomear um campo quebra todo o código chamador.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Sem construtor de inicialização, o chamador é responsável por configurar o objeto corretamente.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Encapsulamento age como uma caixa-preta: mudanças internas não afetam o código externo.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505456"/>
            <a:ext cx="8412480" cy="230886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96896"/>
            <a:ext cx="813816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SEM encapsulamento — frágil e perigoso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Player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   health;   // acesso direto — qualquer um pode colocar -999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weapon;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código chamador assume responsabilidade indevida: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p = new Player();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p.health = -100;  // ← inválido, mas ninguém impede!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COM encapsulamento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Player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name;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health;  // só acessível via métodos controlados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weapon;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Player(String name, int health, String weapon)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  = name;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this.health = Math.max(0, Math.min(100, health)); // valida!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this.weapon = weapon;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loseHealth(int damage)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health = Math.max(0, health - damage);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healthRemaining() { return health;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Princípios do Encapsulamento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Use private para todos os campos — sem exceção.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Crie construtores que inicializam com dados válidos.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Use setters com parcimônia — só quando realmente necessário.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Exponha como public apenas o que o chamador precisa usar.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Getters podem ser public; setters devem validar os dados.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A interface pública (API) é o contrato com o mundo externo.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BankAccount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owner;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balance;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boolean active;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Construtor garante estado válido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BankAccount(String owner, double initialBalance)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this.owner   = owner;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this.balance = Math.max(0, initialBalance);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this.active  = true;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 sem setter — owner imutável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getOwner() { return owner;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Operações controladas — sem setter direto para balance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deposit(double amount)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(amount &gt; 0 &amp;&amp; active) balance += amount;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withdraw(double amount)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(amount &gt; 0 &amp;&amp; amount &lt;= balance &amp;&amp; active)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balance -= amount; return true;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getBalance() { return balance;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Encapsulamento = controle total sobre o estado do objeto. Ninguém de fora quebra as suas regras.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Exercise Enc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Printer — Encapsulamento na Prática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F71"/>
                </a:solidFill>
              </a:rPr>
              <a:t>Crie uma classe Printer que controla nível de toner e contagem de páginas com regras de negócio.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Campos: tonerLevel (%), pagesPrinted, duplex.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Construtor: tonerAmount + duplex.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addToner(amount): retorna -1 se sair do range 0-100.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printPages(pages): calcula folhas (duplex = ceil(pages/2)).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pagesPrinted acumula total de folhas impressas.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Todos os campos devem ser private.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749808"/>
            <a:ext cx="4434840" cy="406908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841248"/>
            <a:ext cx="4160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Printer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 tonerLevel;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 pagesPrinted;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boolean duplex;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Printer(int tonerAmount, boolean duplex)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this.tonerLevel  = Math.max(0, Math.min(100, tonerAmount));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this.duplex      = duplex;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this.pagesPrinted = 0;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addToner(int amount)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newLevel = tonerLevel + amount;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(newLevel &lt; 0 || newLevel &gt; 100) return -1;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tonerLevel = newLevel;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tonerLevel;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printPages(int pages)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sheets = duplex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 (int) Math.ceil(pages / 2.0)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 pages;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(duplex) System.out.println("Duplex printing.");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pagesPrinted += sheets;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sheets;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getPagesPrinted() { return pagesPrinted;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Polimorfismo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Muitas formas — comportamento determinado em runtime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 que é Polimorfismo?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Polimorfismo significa 'muitas formas' — o mesmo código se comporta diferente para tipos distintos.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O método que é executado depende do tipo em RUNTIME, não do tipo declarado em compile time.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Para funcionar: o tipo declarado deve ter relação com o tipo em runtime (herança é uma forma).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Polimorfismo permite código genérico baseado na classe pai — extensível sem modificações.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Novo subtipo? O código existente não precisa mudar para suportá-lo.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 class com método que será sobrescrito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Movie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title;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Movie(String title) { this.title = title;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watchMovie()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System.out.println(title + " [" + getClass().getSimpleName() + "]");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System.out.println("... plot...");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Subclasses — cada uma sobrescreve watchMovie()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Adventure extends Movie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void watchMovie()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super.watchMovie();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System.out.println("... action scene ... jump ...");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Comedy extends Movie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void watchMovie()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super.watchMovie();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System.out.println("... punchline ...");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POLIMORFISMO EM AÇÃO: mesmo código, comportamento diferente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movie = Movie.getMovie("Adventure", "Jaws"); // runtime type: Adventure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movie.watchMovie(); // executa Adventure.watchMovie()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O tipo declarado é Movie — mas a JVM decide em runtime qual implementação chamar.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Polimorfismo — Código Genérico e Extensível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Duas linhas de código no main suportam N tipos de filmes diferentes.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Adicionar um novo gênero (Horror, Romance...) não exige alterar o main.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Factory method é um padrão comum para retornar diferentes subtipos.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8412480" cy="22174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94560"/>
            <a:ext cx="8138160" cy="203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Factory method — retorna subtipo baseado em string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Movie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Movie getMovie(String type, String title)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switch (type.toUpperCase().charAt(0))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'A' -&gt; new Adventure(title);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'C' -&gt; new Comedy(title);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'S' -&gt; new ScienceFiction(title);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default  -&gt; new Movie(title);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main: código genérico — nunca muda mesmo com novos gêneros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String[] types  = {"Adventure", "Comedy", "ScienceFiction"};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String[] titles = {"Indiana Jones", "The Mask", "Star Wars"};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types.length; i++)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Movie movie = Movie.getMovie(types[i], titles[i]); // compile: Movie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movie.watchMovie(); // runtime: Adventure/Comedy/SciFi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cada filme executa sua versão específica de watchMovie()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Polimorfismo = escreva código uma vez, funcione para todos os subtipos presentes e futuros.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Exercise Poly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Car Polymorphism Challenge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F71"/>
                </a:solidFill>
              </a:rPr>
              <a:t>Crie hierarquia de carros onde cada tipo tem comportamento único de arranque e condução.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Classe base Car: description, startEngine(), drive(), runEngine() (protected).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Subclasses: GasPoweredCar, ElectricCar, HybridCar.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Cada uma sobrescreve startEngine() e runEngine().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drive() em Car chama runEngine() — polimorfismo automático.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Pelo menos um método deve imprimir o tipo em runtime.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Main: instancie um de cada e execute drive() para todos.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749808"/>
            <a:ext cx="4434840" cy="406908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841248"/>
            <a:ext cx="4160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description;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Car(String desc) { this.description = desc;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startEngine()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System.out.println(getClass().getSimpleName() + ": engine starts.");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drive()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runEngine(); // polimorfismo: cada subtipo executa o seu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void runEngine()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System.out.println("Running generic engine.");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ElectricCar extends Car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batteryLevel;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ElectricCar(String desc, int battery)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super(desc); this.batteryLevel = battery;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void startEngine()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System.out.println("ElectricCar: silent power-on. Battery: " + batteryLevel + "%");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protected void runEngine()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System.out.println("ElectricCar: electric motor running.");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GasPoweredCar e HybridCar seguem o mesmo padrão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instanceof &amp; Casting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Testar e converter tipos em runtime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 operador instanceof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instanceof testa o tipo real (runtime) de um objeto.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Operando esquerdo: variável de referência a testar.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Operando direito: tipo a verificar — NOT uma string, mas o tipo real.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Retorna true se o objeto é uma instância daquele tipo (ou subtipo).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Pattern matching (JDK 16+): se true, a variável já é tipada diretamente.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Teste clássico com instanceof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unknownMovie = Movie.getMovie("Adventure", "Jaws");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(unknownMovie instanceof Adventure)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precisa de cast explícito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Adventure adv = (Adventure) unknownMovie;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adv.someAdventureOnlyMethod();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Pattern Matching (JDK 16+) 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instanceof retorna true, 'adv' já é do tipo Adventure — sem cast!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(unknownMovie instanceof Adventure adv)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adv.someAdventureOnlyMethod(); // 'adv' já tipado como Adventure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Uso em switch (JDK 21 — preview) 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(unknownMovie)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Adventure a   -&gt; a.fightScene();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Comedy c      -&gt; c.tellJoke();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ScienceFiction sf -&gt; sf.warpSpeed();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           -&gt; unknownMovie.watchMovie();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Prefira pattern matching ao cast manual — mais conciso e elimina ClassCastException acidental.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var e LVTI — Local Variable Type Inference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var é uma keyword contextual que pede ao compilador inferir o tipo.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Introduzido no Java 10 (LVTI — Local Variable Type Inference).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Melhora legibilidade e reduz boilerplate.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Restrições: só em variáveis locais, com atribuição, sem null literal.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Não pode ser usado em campos, parâmetros ou retornos de método.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O tipo inferido em compile time é o mesmo que se você tivesse declarado.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tipo explícito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list = new ArrayList&lt;String&gt;();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var — menos verboso, mesmo resultado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list = new ArrayList&lt;String&gt;(); // compilador infere ArrayList&lt;String&gt;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var em bloco local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entry : map.entrySet())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System.out.println(entry.getKey() + "=" + entry.getValue());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Usos INVÁLIDOS de var: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 field = 10;              // campo de classe — ERRO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 var getName() { }     // retorno — ERRO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void method(var x) { }       // parâmetro — ERRO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 x;                       // sem atribuição — ERRO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 x = null;                // não infere tipo de null — ERRO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 time vs Runtime type: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movie = Movie.getMovie("Comedy", "The Mask");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compile: Movie (tipo inferido)  |  runtime: Comedy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var não torna Java dinâmico — o tipo ainda é resolvido em compile time pelo compilador.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Packages &amp; Import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Organizar classes, evitar conflitos, controlar visibilidade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 que é um Package?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Package é um namespace que organiza tipos relacionados.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Corresponde a uma pasta/diretório no sistema de arquivos.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Estrutura hierárquica — separada por pontos: com.empresa.projeto.util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Convenção: nomes em lowercase, iniciando com domínio reverso (ex: dev.lpa.app).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Classes no mesmo package acessam membros com visibilidade default (package-private).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Evite o default package (sem package statement) em projetos reais.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3310128"/>
            <a:ext cx="8412480" cy="1010412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01568"/>
            <a:ext cx="813816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package statement — PRIMEIRA linha do arquivo 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com.minhaempresa.burger;   // declara o package desta classe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import statements — vêm DEPOIS do package 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java.util.ArrayList;        // importa classe específica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java.util.List;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java.util.*;                // wildcard — importa todo o pacote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Usando o FQCN sem import 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Verboso, mas evita ambiguidade: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java.util.Scanner sc = new java.util.Scanner(System.in);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Regras importantes ─────────────────────────────────────────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Só UM package statement por arquivo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package ANTES de qualquer import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Sem package = default package (evite em projetos reais!)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Classes em pacotes diferentes precisam de import ou FQCN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java.lang é importado automaticamente (String, Object, etc.)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FQCN = package + nome da classe. Ex: java.util.Scanner. Use import para evitar escrever o FQCN sempre.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07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Desafio Master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Bill's Burger: OOP completo — Composição + Encapsulamento + Polimorfismo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Bill's Burger — Visão Geral do Desafio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Bill vende refeições compostas de: Hambúrguer, Bebida e Acompanhamento.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MealOrder usa COMPOSIÇÃO: HAS-A Burger, HAS-A Item (drink), HAS-A Item (side).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Item é a superclasse; Burger extends Item — usa HERANÇA.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getAdjustedPrice() se comporta diferente para cada tipo — usa POLIMORFISMO.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Campos são private, acesso via métodos controlados — usa ENCAPSULAMENTO.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26080"/>
            <a:ext cx="256032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type, price, size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getBasePrice()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getAdjustedPrice()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printItem()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2926080"/>
            <a:ext cx="2560320" cy="1188720"/>
          </a:xfrm>
          <a:prstGeom prst="rect">
            <a:avLst/>
          </a:prstGeom>
          <a:solidFill>
            <a:srgbClr val="1B5E2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Burger extends Item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32735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toppings[3]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addTopping()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getAdjustedPrice()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926080" cy="1188720"/>
          </a:xfrm>
          <a:prstGeom prst="rect">
            <a:avLst/>
          </a:prstGeom>
          <a:solidFill>
            <a:srgbClr val="0D3B1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DeluxeBurger extends Burger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32735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toppings[5] — preço fixo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getAdjustedPrice()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4206240"/>
            <a:ext cx="2560320" cy="914400"/>
          </a:xfrm>
          <a:prstGeom prst="rect">
            <a:avLst/>
          </a:prstGeom>
          <a:solidFill>
            <a:srgbClr val="3D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MealOrder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45537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burger: Burger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drink: Item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sideItem: Item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getTotalPrice()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Exercise Master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Bill's Burger — Implementação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F71"/>
                </a:solidFill>
              </a:rPr>
              <a:t>Construa as classes Item, Burger, DeluxeBurger e MealOrder aplicando todos os pilares da OOP.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Item: campos private name, type, price, size.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Burger extends Item: array toppings[3], addTopping().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DeluxeBurger extends Burger: toppings[5], preço fixo.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MealOrder: composição de Burger + 2 Items.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printItemizedList(): exibe cada item com preço.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getTotalPrice(): soma todos via getAdjustedPrice().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749808"/>
            <a:ext cx="4434840" cy="406908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841248"/>
            <a:ext cx="4160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Item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name, type;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price;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size = "MEDIUM";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Item(String name, String type, double price)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this.name = name; this.type = type; this.price = price;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getBasePrice()     { return price;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getAdjustedPrice() { // sobrescrito em Burger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switch (size)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"SMALL"  -&gt; price * 0.75;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"LARGE"  -&gt; price * 1.50;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default       -&gt; price;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printItem()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System.out.printf("%-20s %8.2f%n", name, getAdjustedPrice());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Burger extends Item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Item[] toppings = new Item[3];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toppingCount = 0;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Burger(String type, double price)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super(type + " Burger", "Burger", price);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addTopping(String name, double extraCost)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(toppingCount &lt; toppings.length)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toppings[toppingCount++] = new Item(name, "Topping", extraCost);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double getAdjustedPrice()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total = getBasePrice();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(var t : toppings) if (t != null) total += t.getBasePrice();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total;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Bill's Burger — DeluxeBurger &amp; MealOrder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356158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0392"/>
            <a:ext cx="8138160" cy="337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DeluxeBurger: preço fixo, 5 toppings 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DeluxeBurger extends Burger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Item[] extraToppings = new Item[2]; // +2 = total 5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extraCount = 0;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DeluxeBurger() { super("Deluxe", 8.50);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addTopping(String name, double cost)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(extraCount &lt; 2) extraToppings[extraCount++] = new Item(name,"Topping",0);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super.addTopping(name, 0); // custo zero — preço fixo!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getAdjustedPrice() { return getBasePrice(); } // FIXO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MealOrder: composição + polimorfismo 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MealOrder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Burger burger;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Item   drink;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Item   sideItem;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Construtor padrão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MealOrder()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this(new Burger("Regular", 4.00),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new Item("Coke","Drink",1.50),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new Item("Fries","Side",1.00));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MealOrder(Burger b, Item d, Item 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this.burger = b; this.drink = d; this.sideItem = s;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addToppingToBurger(String name, double cost)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burger.addTopping(name, cost);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printItemizedList()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burger.printItem(); drink.printItem(); sideItem.printItem();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System.out.printf("%-20s %8.2f%n", "TOTAL", getTotalPrice());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getTotalPrice()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polimorfismo: getAdjustedPrice() diferente p/ Burger e DeluxeBurger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burger.getAdjustedPrice()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drink.getAdjustedPrice()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sideItem.getAdjustedPrice();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getAdjustedPrice() em Burger soma toppings; em DeluxeBurger retorna preço fixo — polimorfismo puro.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548640"/>
            <a:ext cx="2560320" cy="3840480"/>
          </a:xfrm>
          <a:prstGeom prst="rect">
            <a:avLst/>
          </a:prstGeom>
          <a:solidFill>
            <a:srgbClr val="243B2A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0972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51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Composição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280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HAS-A: objetos formados por partes. Prefira a herança quando possível.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10972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184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Encapsulamento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847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Campos private, construtores válidos, setters com parcimônia.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10972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854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Polimorfismo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Override + tipo runtime. Código genérico, extensível sem alterações.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10972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52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instanceof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980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Testa tipo runtime. Pattern matching (JDK 16+) elimina cast manual.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10972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19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var / LVTI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Inferência de tipo local. Legibilidade sem perder segurança de tipo.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0972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886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Packages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Organização, encapsulamento de pacote, FQCN e import statements.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53128"/>
            <a:ext cx="109728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453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Desafio Master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4681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Bill's Burger: Item → Burger → DeluxeBurger + MealOrder (composição).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OOP Part 2 — Polimorfismo em Java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OOP Part 2 — Polimorfismo</dc:title>
  <dc:subject>PptxGenJS Presentation</dc:subject>
  <dc:creator>PptxGenJS</dc:creator>
  <cp:lastModifiedBy>PptxGenJS</cp:lastModifiedBy>
  <cp:revision>1</cp:revision>
  <dcterms:created xsi:type="dcterms:W3CDTF">2026-04-28T11:43:17Z</dcterms:created>
  <dcterms:modified xsi:type="dcterms:W3CDTF">2026-04-28T11:43:17Z</dcterms:modified>
</cp:coreProperties>
</file>