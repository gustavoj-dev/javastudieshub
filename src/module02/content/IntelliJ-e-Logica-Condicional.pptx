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31520"/>
            <a:ext cx="2286000" cy="2286000"/>
          </a:xfrm>
          <a:prstGeom prst="rect">
            <a:avLst/>
          </a:prstGeom>
          <a:solidFill>
            <a:srgbClr val="06B6D4">
              <a:alpha val="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097280"/>
            <a:ext cx="1737360" cy="1737360"/>
          </a:xfrm>
          <a:prstGeom prst="rect">
            <a:avLst/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463040"/>
            <a:ext cx="1188720" cy="1188720"/>
          </a:xfrm>
          <a:prstGeom prst="rect">
            <a:avLst/>
          </a:prstGeom>
          <a:solidFill>
            <a:srgbClr val="06B6D4">
              <a:alpha val="3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4206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80467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Lógica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8912" y="251460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em Java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38912" y="3246120"/>
            <a:ext cx="4754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364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IntelliJ • if-then • Operadores • Ternário • Lógica AND/OR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projeto no IntelliJ ao domínio da lógica condicional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4160520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15184" y="4160520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Métodos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91456" y="4160520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67728" y="4160520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vs  ==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4498848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&amp;&amp; e OR ||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15184" y="4498848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NOT 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91456" y="4498848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7728" y="4498848"/>
            <a:ext cx="2057400" cy="274320"/>
          </a:xfrm>
          <a:prstGeom prst="roundRect">
            <a:avLst/>
          </a:prstGeom>
          <a:solidFill>
            <a:srgbClr val="06B6D4">
              <a:alpha val="2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 ?: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37744" y="1097280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0972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115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no IntelliJ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33502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IDE, modificadores de acesso, classes, métodos, método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" y="1641348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64134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16596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if-then e Lógica Condicional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18790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if, blocos de código, boas práticas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" y="2185416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218541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2203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(Atribuição) vs. == (Igualdade)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" y="24231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crítica, operador NOT !, variáveis boolean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" y="2729484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272948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27477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 AND &amp;&amp; e OR ||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29672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condições, bitwise vs. lógico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" y="3273552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327355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3291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de Operadores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351129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avaliação, parênteses, desafio prático completo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" y="3817620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381762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38359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 ?: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824" y="40553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Sintaxe, uso com boolean, substituto do if-then-else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7744" y="4361688"/>
            <a:ext cx="502920" cy="3931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436168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7824" y="4379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Extra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" y="459943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práticas, erros comuns, o que vem a seguir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no IntelliJ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IDE, modificadores de acesso, classes e o método main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IntelliJ IDEA?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é a IDE (Integrated Development Environment) mais popular para Java.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591056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Desenvolvida pela JetBrains — disponível em versão Community (gratuita) e Ultimate.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06654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Oferece: autocomplete inteligente, destaque de erros em tempo real, refatoração, debug.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542032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uma IDE em vez do JShell?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017520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JShell: ótimo para testar snippets; IntelliJ: para projetos reais com múltiplos arquivos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49300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 organiza seu código em projetos, pacotes e módulos — estrutura profissional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3968496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detecta erros de compilação enquanto você digita — feedback imediato!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398264"/>
            <a:ext cx="8595360" cy="418429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Ctrl+Space para autocomplete e Alt+Enter para sugestões de correção automática.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um programa Java no IntelliJ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programa Java começa com uma classe pública e o método main — ponto de entrada da aplicação: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Arquivo: PrimeiraClasse.java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PrimeiraClasse {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 main: ponto de entrada de qualquer programa Java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System.out.println("Hello World");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System.out.println("Hello, Tim");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IntelliJ cria o arquivo .java e compila automaticamente para .class (bytecode) ao salvar. Atalho: psvm + Tab gera o método main!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 de Acesso (Access Modifiers)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é um modificador de acesso — define quem pode acessar o elemento.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609344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 de acesso controlam a visibilidade de classes, métodos e variáveis.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103120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modificadores de acesso em Java: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596896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  — acessível de qualquer lugar (qualquer classe, qualquer pacote)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090672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acessível na mesma classe, pacote e subclasses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584448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  — (sem modificador) acessível apenas no mesmo pacote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4078224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 — acessível apenas dentro da própria classe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8595360" cy="434523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562856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principal e o método main sempre devem ser public para que a JVM os encontre e execute.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palavra-chave class e o Método main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define uma classe — o bloco de construção fundamental da OOP em Java.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45336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MinhaClasse {   // 'MinhaClasse' é o nome da classe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20824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código da classe aqui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96312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// chaves delimitam o 'corpo' da classe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3017520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método é uma coleção de statements que realizam uma operação.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" y="349300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main é ESPECIAL — é o ponto de entrada de todo programa Java: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22776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main(String[] args) { ... 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" y="444398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JVM (Java Virtual Machine) busca exatamente este método para iniciar a execução.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873752"/>
            <a:ext cx="8595360" cy="418429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arquivo .java DEVE ser idêntico ao nome da classe pública — maiúsculas incluídas!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if-then e Lógica Condicional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fluxo do programa com condições verdadeiro/falso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Lógica Condicional?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condicional permite executar código APENAS se uma condição for satisfeita.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591056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do controle de fluxo — sem ela, todo código executaria sempre na mesma ordem.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06654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dia a dia transformados em código: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a luz for vermelha, ENTÃO pare: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(luzVermelha == true) { parar(); 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22776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o usuário tiver mais de 18 anos, ENTÃO permitir acesso: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398264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(idade &gt;= 18) { permitirAcesso(); 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873752"/>
            <a:ext cx="8595360" cy="418429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if-then é o tipo mais básico de controle de fluxo em Java e em praticamente toda linguagem de programação.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do if-then — Estrutura Completa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entre parênteses deve retornar true ou false (boolean). Se true, o bloco executa: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isAlien = false;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 básica (sem bloco — só uma instrução):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(isAlien == false)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System.out.println("Não é alienígena!");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FORMA RECOMENDADA — sempre use bloco de código {}: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(isAlien == false)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System.out.println("Não é alienígena!");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System.out.println("Bem-vindo, humano!");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else (o bloco else executa quando a condição é false):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(isAlien == false)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System.out.println("Humano detectado.");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System.out.println("Alienígena detectado!");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Boa prática: SEMPRE use chaves {} no if-then, mesmo com uma única instrução — evita erros ao adicionar código depois!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Igualdade (==) e Operador de Atribuição (=)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(um sinal de igual) → Operador de ATRIBUIÇÃO — define o valor de uma variável.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45336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isAlien = false;   // ATRIBUI false a isAlien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06654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(dois sinais de igual) → Operador de IGUALDADE — compara dois valores.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96312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(isAlien == false) { ... }  // COMPARA isAlien com false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3017520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= com == é um dos erros mais comuns em programação: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(isAlien = false) { ... }  // ⚠️ ATRIBUI false (não compara!)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22776"/>
            <a:ext cx="8595360" cy="418429"/>
          </a:xfrm>
          <a:prstGeom prst="rect">
            <a:avLst/>
          </a:prstGeom>
          <a:solidFill>
            <a:srgbClr val="F59E0B">
              <a:alpha val="17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Atenção: O IntelliJ NÃO marca como erro usar = em boolean dentro de if. O programa roda, mas com comportamento errado!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de Código { 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código agrupa múltiplas instruções para serem executadas juntas.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(condicao) {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instrucao1;   // executa se condicao for true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instrucao2;   // também executa se condicao for true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instrucao3;   // também executa se condicao for true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" y="38587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bloco, o if afeta apenas a instrução imediatamente seguinte — perigoso!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270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(condicao)    // ❌ sem bloco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727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instrucao1;  // afetada pelo if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5184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instrucao2;  // NÃO é afetada — executa SEMPRE!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5641848"/>
            <a:ext cx="8595360" cy="402336"/>
          </a:xfrm>
          <a:prstGeom prst="rect">
            <a:avLst/>
          </a:prstGeom>
          <a:solidFill>
            <a:srgbClr val="22C55E">
              <a:alpha val="17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5678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Regra de ouro: SEMPRE use {} em instruções if, mesmo que tenha só uma linha de código.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vs. == e o Operador NOT 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vs igualdade e o complemento lógico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(Atribuição) vs. == (Igualdade) — Diferença Crítica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7744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" y="1051560"/>
            <a:ext cx="420624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Atribuição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554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valor de uma variável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20116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esquerdo recebe o valor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24688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declarações/statements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9260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x = true;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3832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 = 42;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variável tem novo valor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0016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051560"/>
            <a:ext cx="4206240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Igualdade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1554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dois valores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0116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true ou false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4688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condições (if, while...)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260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== true) { ...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3832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(n == 42)   { ... 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840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boolean (verdade/falso)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NOT ! (Complemento Lógico)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! inverte o valor boolean — transforma true em false e vice-versa.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isCar = false;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Testando com ==:  (forma explícita)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(isCar == true)  { System.out.println("É um carro"); 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(isCar == false) { System.out.println("Não é um carro"); 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813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270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Testando com !:  (forma concisa e preferida)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727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(isCar)  { System.out.println("É um carro"); 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5184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(!isCar) { System.out.println("Não é um carro"); }  // ! inverte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preferir a forma concisa com !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1 — Segurança: com == em boolean, o IntelliJ não detecta = acidental.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(isCar = false) { }   // ⚠️ IntelliJ não marca erro em boolean!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(!isCar) { }          // ✅ impossível de confundir com atribuição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24871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2 — Legibilidade: código mais conciso frequentemente é mais legível.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Verboso (mas funciona):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(isHungry == true) { ... 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13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Conciso e idiomático em Java: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270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(isHungry) { ... }        // se está com fome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727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(!isHungry) { ... }       // se NÃO está com fome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5184648"/>
            <a:ext cx="8595360" cy="402336"/>
          </a:xfrm>
          <a:prstGeom prst="rect">
            <a:avLst/>
          </a:prstGeom>
          <a:solidFill>
            <a:srgbClr val="22C55E">
              <a:alpha val="17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Convenção Java: use if (var) e if (!var) para booleanos — evite == true e == false.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 AND &amp;&amp; e OR ||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múltiplas condições em expressões booleanas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 vs. Bitwise — a diferença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tem duas versões dos operadores AND e OR: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66420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— AND Lógico: opera sobre booleanos (true/false)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21284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— AND Bitwise: opera no nível de bits (avançado — raramente usado no dia a dia)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76148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— OR Lógico: opera sobre booleanos (true/false)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31012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— OR Bitwise: opera no nível de bits (avançado — raramente usado no dia a dia)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813048"/>
            <a:ext cx="8595360" cy="482803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49624"/>
            <a:ext cx="832104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 prática, você usará quase sempre &amp;&amp; e || — os operadores LÓGICOS. Guarde isso!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" y="4407408"/>
            <a:ext cx="8430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existe o XOR lógico ^ (exclusive OR) — raramente necessário no desenvolvimento típico.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&amp;&amp; — Verdadeiro APENAS se AMBAS as condições forem true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Tabela-verdade: &amp;&amp; só retorna true quando os dois lados são true: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Exemplos de AND (&amp;&amp;):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temCarteira  = true;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temVeiculo   = true;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temGasolina  = false;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&amp;&amp; true →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(temCarteira &amp;&amp; temVeiculo)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System.out.println("Pode dirigir!");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&amp;&amp; false → false  (bloco NÃO executa)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(temVeiculo &amp;&amp; temGasolina)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System.out.println("Pode sair!");  // não imprime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Encadeando múltiplas condições: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(temCarteira &amp;&amp; temVeiculo &amp;&amp; temGasolina)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System.out.println("Tudo pronto para a viagem!");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Short-circuit: se o primeiro operando de &amp;&amp; for false, o segundo NEM É AVALIADO — Java para ali!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|| — Verdadeiro se PELO MENOS UMA condição for true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Tabela-verdade: || retorna false apenas quando os dois lados são false: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Exemplos de OR (||):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temDinheiro = false;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temCartao   = true;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temPix      = false;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|| true → true  (pelo menos um é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(temDinheiro || temCartao)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System.out.println("Pode comprar!");  // imprime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|| false →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(temDinheiro || temPix)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System.out.println("Pode pagar!");  // não imprime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Combinando AND e OR com parênteses para clareza: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((temCarteira &amp;&amp; temVeiculo) || temOnibus)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System.out.println("Consegue se locomover!");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Short-circuit: se o primeiro operando de || for true, o segundo NEM É AVALIADO — Java já sabe o resultado!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Tabela-Verdade: AND &amp;&amp; vs. OR ||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7744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" y="1051560"/>
            <a:ext cx="420624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(&amp;&amp;) — ambos devem ser true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554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&amp;&amp; true  → true 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20116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&amp;&amp; false → false 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24688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&amp;&amp; true  → false 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9260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&amp;&amp; false → false 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3832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para no 1º false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para: exigir múltiplas condições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0016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051560"/>
            <a:ext cx="420624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078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(||) — basta um ser true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1554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|| true  → true 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0116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|| false → true 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4688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|| true  → true 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260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|| false → false 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3832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para no 1º true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84048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para: aceitar alternativas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de Operadores &amp; Desafio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avaliação e um desafio prático completo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de Operadores em Java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define qual operador é avaliado primeiro em uma expressão.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517904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maior para o menor (simplificado):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920240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Parênteses ()  — sempre avaliados primeiro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322576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Unários: !, ++, --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2724912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Multiplicativos: *, /, 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127248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Aditivos: +, -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3529584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Relacionais: &lt;, &gt;, &lt;=, &gt;=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3931920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Igualdade: ==, !=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" y="4334256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AND lógico: &amp;&amp;   8. OR lógico: ||   9. Ternário ?:   10. Atribuição =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690872"/>
            <a:ext cx="8595360" cy="354056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727448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 prática: use parênteses explícitos para deixar claro a ordem pretendida — o compilador e os humanos agradecerão!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na prática — resultados surpreendentes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parênteses o resultado pode ser diferente do esperado: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33375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3337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parênteses — pode surpreender: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resultado = 2 + 3 * 4;   // = 14 (não 20!) — * antes de +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parênteses — clareza garantida: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resultado2 = (2 + 3) * 4;  // = 20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Operadores lógicos e relacionais: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x = true || false &amp;&amp; false;  // true (&amp;&amp;  antes de ||)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y = (true || false) &amp;&amp; false; // false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 completo com % e comparação: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 = 20.00, b = 80.00;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soma = (a + b) * 100.00;       // 10000.0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resto = soma % 40.00;          // 0.0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isDivisivel = (resto == 0.0); // true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(!isDivisivel)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System.out.println("Tem resto!");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Completo — Passo a Passo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01644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criar uma variável double com valor 20.00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55430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92006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primeiroNum = 20.00;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10817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criar outra double com valor 80.00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811786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8362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segundoNum = 80.00;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2183404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3: somar os dois e multiplicar por 100.00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508016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4592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resultado = (primeiroNum + segundoNum) * 100.00;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" y="2831348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4: calcular o resto de resultado ÷ 40.00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87964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24540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resto = resultado % 40.00;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3460090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5: boolean true se resto for 0.00, false caso contrário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612" y="3777746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492" y="3814322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semResto = (resto == 0.00);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" y="4077486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6-7: imprimir o boolean e exibir mensagem se tiver resto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4340826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77402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System.out.println(semResto);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4743894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80470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(!semResto) { System.out.println("Tem resto!"); }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-16708" y="4006346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 ?: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operador de três operandos do Java — atalho elegante para if-then-else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Operador Ternário?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ternário é o único em Java que usa TRÊS operandos.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591056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 chamado de operador condicional — é um atalho para o if-then-else.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06654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8595360" cy="418429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 = (condicao) ? valorSeTrue : valorSeFalse;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017520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operandos: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3493008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1: a condição (deve retornar boolean — true ou false)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3968496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2: valor atribuído à variável se a condição for true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" y="4443984"/>
            <a:ext cx="84307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3: valor atribuído à variável se a condição for false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873752"/>
            <a:ext cx="8595360" cy="418429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Pense no ? como 'então' e no : como 'senão' — lê-se: 'se condição? valor1 : valor2'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na Prática — Exemplos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 if-then-else com o equivalente em ternário: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idadeDoCliente = 20;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Usando if-then-else (forma longa):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textoIdade;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(idadeDoCliente &gt;= 18)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textoIdade = "Maior de idade";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textoIdade = "Menor de idade";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Usando ternário (forma concisa — mesmo resultado):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textoIdade2 = (idadeDoCliente &gt;= 18) ? "Maior de idade" : "Menor de idade";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Ternário com int: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maximo = (a &gt; b) ? a : b;   // retorna o maior valor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Ternário aninhado (use com cautela — pode prejudicar legibilidade):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faixa = (idade &lt; 13) ? "criança" : (idade &lt; 18) ? "adolescente" : "adulto";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parênteses na condição do ternário para maior clareza — (condicao) ? a : b é mais legível que condicao ? a :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com boolean — o anti-padrão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ternário para atribuir boolean a partir de uma condição boolean é redundante: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Anti-padrão — desnecessariamente verboso: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isMaior = (idade &gt;= 18) ? true : false;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24871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JÁ retorna um boolean — não precisamos do ternário aqui!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Forma correta e idiomática: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isMaior = (idade &gt;= 18);   // direto ao ponto!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" y="38587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ternário brilha quando precisamos escolher entre dois VALORES diferentes: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70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Uso correto do ternário — escolhendo entre dois valores: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727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msg = isMaior ? "Acesso permitido" : "Acesso negado";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5184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taxa = (isPremium) ? 0 : 10;  // isento ou 10% de taxa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5641848"/>
            <a:ext cx="8595360" cy="402336"/>
          </a:xfrm>
          <a:prstGeom prst="rect">
            <a:avLst/>
          </a:prstGeom>
          <a:solidFill>
            <a:srgbClr val="22C55E">
              <a:alpha val="17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5678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Regra: se o resultado já é boolean, atribua direto. Use ternário para escolher entre dois valores não-boolean.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Ternário vs. if-then-else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ternário é ótimo para expressões simples de uma linha; if-else é melhor para lógica complexa: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" y="1444752"/>
            <a:ext cx="8668512" cy="2423160"/>
          </a:xfrm>
          <a:prstGeom prst="rect">
            <a:avLst/>
          </a:prstGeom>
          <a:solidFill>
            <a:srgbClr val="060E18"/>
          </a:solidFill>
          <a:ln w="1016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" y="1444752"/>
            <a:ext cx="10972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8275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Ternário — ideal aqui (simples, uma linha):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saudacao = (hora &lt; 12) ? "Bom dia!" : "Boa tarde!";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System.out.println(saudacao);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if-else — melhor para lógica com múltiplas ações: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(hora &lt; 12)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System.out.println("Bom dia!");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tocarMusica("matinal");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exibirSolNascendo();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System.out.println("Boa tarde!");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tocarMusica("tarde");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Ternário em System.out.println: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System.out.println("Temperatura: " + (celsius &gt; 30 ? "quente" : "agradável"));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4014216"/>
            <a:ext cx="8668512" cy="676656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Ternário em System.out.println evita criar uma variável temporária apenas para a mensagem — uso elegante!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Extra &amp; Boas Práticas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comuns, dicas do IntelliJ e o que vem a seguir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Operadores Vistos Nesta Seção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 → Atribuição: atribui valor à variável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72184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  boolean ativo = true;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1920240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/ !=  → Igualdade / Diferença: compara dois valores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76856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13432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10  → true  |  x != 5  → true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2724912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 → NOT: inverte o boolean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81528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18104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!true → false  |  !false → true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" y="3529584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 → AND lógico: true se AMBOS 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22776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false → false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" y="4334256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 → OR lógico: true se PELO MENOS UM for true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690872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27448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false → true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" y="5138928"/>
            <a:ext cx="843076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?:  → Ternário: condicao ? valorTrue : valorFalse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5495544"/>
            <a:ext cx="8595360" cy="35405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32120"/>
            <a:ext cx="8321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(x &gt; 5) ? "maior" : "menor";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 Como Evitá-los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Usar = no lugar de == em condições if: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(isAtivo = false) { }  // ⚠️ atribui, não compara!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(!isAtivo) { }          // ✅ forma correta e segura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24871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Omitir {} no if — causa bugs silenciosos ao adicionar código: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0)                 // ❌ sem bloco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System.out.println(x); // afetada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130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fazerAlgo();            // NÃO afetada — executa sempre!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" y="4315968"/>
            <a:ext cx="8430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Confundir &amp;&amp; com ||: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7274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(isAdmin &amp;&amp; isLogado) { }  // AMBOS devem ser true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5184648"/>
            <a:ext cx="8595360" cy="402336"/>
          </a:xfrm>
          <a:prstGeom prst="rect">
            <a:avLst/>
          </a:prstGeom>
          <a:solidFill>
            <a:srgbClr val="0D1B2A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(isAdmin || isMod) { }     // QUALQUER UM basta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5641848"/>
            <a:ext cx="8595360" cy="402336"/>
          </a:xfrm>
          <a:prstGeom prst="rect">
            <a:avLst/>
          </a:prstGeom>
          <a:solidFill>
            <a:srgbClr val="F59E0B">
              <a:alpha val="17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5678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 IntelliJ avisa sobre muitos desses erros — preste atenção nas linhas sublinhadas em vermelho/amarelo!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do IntelliJ IDEA para Produtividade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essenciais para começar: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609344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psvm + Tab  → gera public static void main(String[] args) { 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103120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 + Tab  → gera System.out.println();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596896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Ctrl+Space  → autocomplete (Mac: Cmd+Space)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090672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Alt+Enter   → correção automática de erros sugerida pelo IntelliJ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584448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     → desfazer (Mac: Cmd+Z)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4078224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Ctrl+/      → comentar/descomentar linha (Mac: Cmd+/)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4572000"/>
            <a:ext cx="843076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Shift+F10   → executar o programa (Mac: Ctrl+R)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5020056"/>
            <a:ext cx="8595360" cy="434523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5056632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IntelliJ destaca em CINZA código não utilizado, em AMARELO avisos, e em VERMELHO erros de compilação.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96012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 no Curso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11556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seções aprofundam o controle de fluxo: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161848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 completo — múltiplas condições e else-if encadeados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12140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— alternativa ao if-else quando há muitos valores possíveis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262432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de repetição: for, while, do-while — executar código múltiplas vezes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12724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b="1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" y="363016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objetos, campos, métodos — o coração do Java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413308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Encapsulamento, herança, polimorfismo — os 4 pilares da OOP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4636008"/>
            <a:ext cx="843076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135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coleções — armazenar múltiplos valores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5093208"/>
            <a:ext cx="8595360" cy="442570"/>
          </a:xfrm>
          <a:prstGeom prst="rect">
            <a:avLst/>
          </a:prstGeom>
          <a:solidFill>
            <a:srgbClr val="06B6D4">
              <a:alpha val="17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5129784"/>
            <a:ext cx="83210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0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Tudo que aprendemos aqui (if, operadores, boolean) é a base para todas as estruturas de controle que veremos!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6B6D4">
              <a:alpha val="6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91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&amp; Lógica Condicional — o que você aprendeu: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990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organiza código em projetos; o método main (public static void main) é o ponto de entrada da JVM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911096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executa código condicionalmente; SEMPRE use {} mesmo com uma linha — boa prática obrigatória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386584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atribui valor; == compara valores — confundi-los é um dos bugs mais comuns em Java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inverte boolean; if (ativo) e if (!ativo) são a forma idiomática de testar booleanos em Java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337560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009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(AND): true somente se AMBOS forem true; || (OR): true se PELO MENOS UM for true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813048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&amp;&amp; para ao primeiro false; || para ao primeiro true — eficiência automática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4288536"/>
            <a:ext cx="6400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?: é um atalho de if-else para UMA expressão; atribuições boolean simples não precisam dele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E1F30"/>
          </a:solidFill>
          <a:ln w="12700">
            <a:solidFill>
              <a:srgbClr val="0E1F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IntelliJ e Lógica Condicional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4116</Words>
  <Application>Microsoft Office PowerPoint</Application>
  <PresentationFormat>Apresentação na tela (16:9)</PresentationFormat>
  <Paragraphs>489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IntelliJ e Lógica Condicional em Java</dc:title>
  <dc:subject>PptxGenJS Presentation</dc:subject>
  <dc:creator>Java Masterclass</dc:creator>
  <cp:lastModifiedBy>gustavo jesus</cp:lastModifiedBy>
  <cp:revision>2</cp:revision>
  <dcterms:created xsi:type="dcterms:W3CDTF">2026-04-20T11:32:20Z</dcterms:created>
  <dcterms:modified xsi:type="dcterms:W3CDTF">2026-04-27T12:13:06Z</dcterms:modified>
</cp:coreProperties>
</file>