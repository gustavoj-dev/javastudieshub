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280160"/>
            <a:ext cx="2011680" cy="2011680"/>
          </a:xfrm>
          <a:prstGeom prst="rect">
            <a:avLst/>
          </a:prstGeom>
          <a:solidFill>
            <a:srgbClr val="F97316">
              <a:alpha val="12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554480"/>
            <a:ext cx="1554480" cy="1554480"/>
          </a:xfrm>
          <a:prstGeom prst="rect">
            <a:avLst/>
          </a:prstGeom>
          <a:solidFill>
            <a:srgbClr val="F97316">
              <a:alpha val="2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891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5029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015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• Variáveis • Tipos Primitivos • Operadores • Casting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absoluto ao domínio das bases da linguagem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76272" y="4206240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95344" y="4206240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14416" y="4206240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14416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/ short / long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33488" y="4206240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3488" y="42062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/ double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53712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537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/ boolean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76272" y="4553712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45537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95344" y="4553712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45537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14416" y="4553712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45537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33488" y="4553712"/>
            <a:ext cx="1627632" cy="274320"/>
          </a:xfrm>
          <a:prstGeom prst="round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45537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115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&amp; Primeiros Passos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JShell, statements, desafio Hello Tim, erros comuns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636776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63677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6550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Palavras-chave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18745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Declaração, tipos de dados, expressões, operadores básicos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176272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1762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21945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 Numéricos Inteiros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241401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byte, short, long — range, overflow, underflow, largura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715768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71576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734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 de Ponto Flutuante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295351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double, notação científica, sufixos literais, precisão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255264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25526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2735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char, boolean e String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34930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Unicode, valores booleanos, concatenação, imutabilidade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794760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79476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38130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Operandos e Expressões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40325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Aritméticos, resto, abreviações ++/--, operadores compostos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4334256"/>
            <a:ext cx="502920" cy="393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433425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" y="435254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e Conversão de Tipos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45720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explícito, cast implícito, regras de atribuição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&amp; Primeiros Passos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JShell, seu primeiro programa Java e erros comuns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JShell?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JShell é a ferramenta interativa do Java para testar código sem criar um projeto completo.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609344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desde o JDK 9 — ideal para experimentar e aprender de forma rápida.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digitar e executar código Java linha a linha e ver o resultado imediatamente.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596896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setas ↑ ↓ para navegar pelo histórico dos comandos digitados anteriormente.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090672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especiais do JShell: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3538728"/>
            <a:ext cx="8558784" cy="434523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75304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/exit  ou  /ex      → encerra a sessão do JShell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4032504"/>
            <a:ext cx="8558784" cy="434523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/vars              → lista todas as variáveis declaradas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4526280"/>
            <a:ext cx="8558784" cy="434523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562856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(Windows) ou Ctrl+D (Mac/Linux) cancela a operação atual e volta ao prompt.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primeiro programa — Hello World!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tradição: todo programador começa aqui. Um statement simples que imprime texto na tela: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JShell, digite e pressione Enter: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System.out.println("Hello World");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Saída esperada: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 World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Modificando para imprimir outro texto: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System.out.println("Hello Tim");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 adiciona uma linha nova; print não adiciona: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System.out.print("Olá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System.out.print("Java!");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Saída: Olá Java!  (na mesma linha)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consegue imprimir 'Hello World', você está no caminho! Parece simples, mas é o primeiro passo de todo programador.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Statement (Instrução)?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statement é um comando completo a ser executado pelo computador.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incluir uma ou mais expressões.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Java, todo statement termina com ponto e vírgula ( ; 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System.out.println("Hello World");  // ← o ; finaliza o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em Java — o compilador reclamará de: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349300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do ; no final do statement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faltando — Java exige aspas duplas para texto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444398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maiúsculas/minúsculas erradas — Java é case-sensitive!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system.out.println("oi");  // ❌ ERRO: 'system' deveria ser 'System'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Aprenda Errando — a melhor forma de estudar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substitui aprender com os próprios erros.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66420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digitar o código você comete erros (typos, omissões) — isso é NORMAL e valioso.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 vídeo, tente resolver sozinho antes de buscar a solução.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76148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completo de cada vídeo fica disponível na seção de recursos.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31012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JShell é um ambiente seguro para testar — experimente o quanto quiser.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3813048"/>
            <a:ext cx="8558784" cy="482803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49624"/>
            <a:ext cx="832104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código funciona após uma luta, você não esquece mais. O desafio é parte do aprendizado!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440740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vídeo se baseia em conteúdos anteriores — não pule etapas.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Palavras-chave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variáveis, keywords, tipos de dados e expressões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(Keywords) em Java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são palavras reservadas com significado predefinido na linguagem Java.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podem ser usadas como nomes de variáveis, classes ou métodos.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é case-sensitive: int (minúsculo) é uma keyword; Int (maiúsculo) NÃO 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double  float   long   short  byte  // tipos primitivos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 char  void  class  interface  // mais keywords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 private  protected  static  final  // modificadores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92277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 else  for  while  return  new  // controle de fluxo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o IntelliJ e outros IDEs destacam keywords com cor diferente — fica fácil identificá-las!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Variável?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são uma forma de armazenar informação no computador.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variáveis com um nome, e o computador cuida de onde armazená-las na RAM.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tem: um TIPO de dado + um NOME + opcionalmente um VALOR inicial.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   nome          valor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 meuPrimeiroNumero = 5;  // declaração completa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 outroNumero;            // declaração sem valor inicial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nomenclatura de variáveis em Java: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444398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camelCase: a primeira palavra em minúsculo, demais com inicial maiúscula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meuNumero; double alturaEmMetros; boolean estaChovendo;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Declaração, Atribuição e Expressões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declaração define a variável; uma atribuição define o valor; uma expressão calcula um valor: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Declaração com valor inicial (declaration statement):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meuPrimeiroNumero = 5;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Atribuição posterior: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meuPrimeiroNumero = 10;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Expressão — o lado direito do = é uma expressão: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resultado = meuPrimeiroNumero * 2 + 3;  // expressão: meuPrimeiroNumero * 2 + 3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Imprimindo variáveis com System.out.print: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System.out.println("Valor: " + meuPrimeiroNumero);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System.out.println("Resultado: " + resultado);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JShell, re-declarar uma variável é permitido (para facilitar o aprendizado), mas no Java real isso causa erro!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Básicos em Java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realizam operações sobre variáveis e valores (operandos).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— adição (números) ou concatenação (Strings)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— subtração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— multiplicação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9443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— divisão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4015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— resto da divisão (módulo)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" y="38130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9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10, b = 3;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" y="42702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+ b);  // 13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" y="47274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% b);  // 1  (resto de 10 ÷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" y="5184648"/>
            <a:ext cx="8558784" cy="402336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+ com String concatena: "Valor: " + 42 resulta em "Valor: 42"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Primitivos Numéricos Inteiros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byte, short, long — range, overflow e largura em bits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8 Tipos Primitivos do Java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tem exatamente 8 tipos primitivos — os blocos de construção dos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609344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tipos para números inteiros (sem parte decimal):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 →  8 bits   |  -128 a 127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596896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→ 16 bits   |  -32.768 a 32.767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090672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 → 32 bits   |  -2.147.483.648 a 2.147.483.647  (padrão para inteiros)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584448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 → 64 bits   |  -9,2 × 10¹⁸ a 9,2 × 10¹⁸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4078224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tipos para números reais (com decimal), 1 para caracteres, 1 para verdadeiro/falso.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" y="4526280"/>
            <a:ext cx="8558784" cy="434523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562856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é o tipo padrão para números inteiros. Só use long se o valor ultrapassar Integer.MAX_VALUE.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 tipo int e a Wrapper Class Integer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Descobrindo os limites do int e o que acontece com overflow: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Valor máximo e mínimo do int: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System.out.println(Integer.MAX_VALUE);  // 2147483647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System.out.println(Integer.MIN_VALUE);  // -2147483648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Overflow — o valor 'gira' para o mínimo sem lançar erro: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maxInt = Integer.MAX_VALUE;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System.out.println(maxInt + 1);  // -2147483648 (overflow!)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Legibilidade com underscores (Java 7+):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populacaoBrasil = 215_000_000;  // underscores como separador visual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Descobrindo os limites de byte e short: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System.out.println(Byte.MIN_VALUE + " a " + Byte.MAX_VALUE);   // -128 a 127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System.out.println(Short.MIN_VALUE + " a " + Short.MAX_VALUE); // -32768 a 32767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Classes (Integer, Byte, Short, Long) oferecem constantes como MIN_VALUE e MAX_VALUE e métodos utilitários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Overflow, Underflow e Largura (Width)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valor acima do máximo → 'gira' para o mínimo sem lançar erro.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Underflow: valor abaixo do mínimo → 'gira' para o máximo sem lançar erro.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SÓ verifica overflow para literais diretos, não para expressões.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2147483648;          // ❌ ERRO: literal fora do range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 = Integer.MAX_VALUE + 1;// ✅ compila, mas causa overflow!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349300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(Width) = quantidade de bits usados para armazenar o tipo: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= 8 bits  |  short = 16 bits  |  int = 32 bits  |  long = 64 bits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tipo correto! Usar int para um ID de trilhões de usuários causaria overflow.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long e o sufixo 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valor ultrapassa Integer.MAX_VALUE, é obrigatório usar o sufixo 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Sufixo L (ou l minúsculo) indica que o literal é um long: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populacaoMundial = 8_100_000_000L;  // L obrigatório aqui!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o L, isso é erro de compilação: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long erro = 8100000000;  // ❌ 'integer number too large'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Comparando int e long: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System.out.println(Integer.MAX_VALUE);  //  2.147.483.647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System.out.println(Long.MAX_VALUE);     //  9.223.372.036.854.775.807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Wrapper class Long: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System.out.println(Long.MIN_VALUE);     // -9.223.372.036.854.775.808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não diferencia L maiúsculo de l minúsculo como sufixo, mas L maiúsculo é mais fácil de 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e double — Ponto Flutuante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reais, precisão, notação científica e sufixos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 Ponto Flutuante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de ponto flutuante têm parte fracionária, expressa com ponto decimal.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chamados de números reais (ex: 3.14, -0.001, 2.5E10).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oferece dois tipos primitivos para números reais: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 → 32 bits  |  precisão simples  |  sufixo obrigatório: F ou 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29443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→ 64 bits  |  precisão dupla    |  sufixo opcional: D ou 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4015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é o TIPO PADRÃO para qualquer número decimal em Java.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2608" y="38130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9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pi = 3.14159;   // double (padrão)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" y="42702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f  = 3.14f;     // float — F obrigatório!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" y="4727448"/>
            <a:ext cx="8558784" cy="402336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 de certificação: float x = 3.14; → ERRO! 3.14 é double, não cabe num float sem cast ou sufixo.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float, double e Notação Científica em Java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 com ambos os tipos e a notação científica (E-notation):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 — padrão para decimais: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salario = 5_500.75;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circunferencia = 2 * 3.14159265358979 * 10.0;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float — sufixo f obrigatório: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temperatura = 36.6f;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peso = (float) 75.5;  // ou usando cast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Notação científica (E-notation):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pequeno = 1.4E-10;   // 1.4 × 10⁻¹⁰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grande  = 3.4E38;    // 3.4 × 10³⁸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Wrapper classes: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System.out.println(Float.MAX_VALUE);   // ~3.4028235E38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System.out.println(Double.MAX_VALUE);  // ~1.7976931348623157E308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é processado mais rápido em hardware moderno e as bibliotecas matemáticas do Java retornam double — use double por padrão!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preferir double ao float?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double é o tipo padrão do Java para números reais — prefira-o na maioria dos casos.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é processado mais rápido em CPUs modernas (hardware otimizado para 64 bits).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bibliotecas matemáticas do Java (Math.sqrt, Math.pow, etc.) recebem e retornam double.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542032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tem muito mais precisão que float: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f = 1.0f / 3.0f;  // 0.33333334 (imprecisão visível)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d = 1.0 / 3.0;    // 0.3333333333333333 (mais preciso)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precisar de precisão absoluta (finanças), use BigDecimal — nem float nem double são exatos.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double para física/matemática; BigDecimal para valores monetários; float raramente em código moderno.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char, boolean e String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7º e 8º primitivos, Unicode e a classe especial String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char — Um único caractere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armazena exatamente um caractere — usa aspas SIMPLES.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4533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letra = 'A';    // aspas simples — um único caractere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02082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sinal = '?';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542032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2 bytes (16 bits) — armazenado como número mapeado a um caractere via Unicode.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de atribuir um caractere: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c1 = 'D';      // literal de caractere (mais comum)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92277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c2 = 68;       // valor decimal (D = 68 na tabela Unicode)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c3 = '\u0044'; // valor Unicode hexadecimal (\u0044 = 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site symbl.cc para descobrir o código Unicode de qualquer símbolo!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boolean — Verdadeiro ou Falso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armazena apenas dois valores: true ou false.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4533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estaChovendo = true;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02082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temIdade = false;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542032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wrapper class é Boolean (com B maiúsculo).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Convenção: use prefixos como is, has, can no nome das variáveis: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isMarried   = true;   // 'é casado?'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92277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hasChildren = false;  // 'tem filhos?'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canFly      = false;  // 'pode voar?'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Prefixos como 'is' e 'has' tornam o código mais legível — parece fazer uma pergunta lógica!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vs. String — Diferenças Fundamentais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4160520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PRIMITIVO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20116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simples: 'A'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2468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1 caractere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926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 (16 bits)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" y="3383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Armazenado como número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" y="3840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char nota = 'A';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27448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051560"/>
            <a:ext cx="4160520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CLASSE (não primitivo)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20116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duplas: "texto"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468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 mais caracteres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926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variável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383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chars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3840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String nome = "Ana";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String — o 9º tipo especial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é uma CLASSE, não um primitivo — mas é tratada de forma especial em Java.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= sequência de caracteres; pode ser usada quase como um tipo primitivo.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19842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 = "Java Masterclass";  // aspas duplas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com + — qualquer coisa após uma String vira String: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" y="28986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msg = "Olá " + "Mundo!";         // "Olá Mundo!"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33558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info = "Valor: " + 42;            // "Valor: 42"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8130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9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multi = "A" + "B" + "C" + 123;    // "ABC123"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43159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são IMUTÁVEIS — uma vez criadas, não mudam; o Java cria uma nova String.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" y="4727448"/>
            <a:ext cx="8558784" cy="402336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Imutabilidade garante segurança e permite que o Java reutilize Strings na memória (String Pool).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StringBuilder e Imutabilidade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é imutável; StringBuilder é mutável — use o correto para cada situação: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— imutável: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"Java";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 + " é incrível!";  // cria uma NOVA String, não modifica a original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System.out.println(s);   // Java é incrível!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StringBuilder — mutável, mais eficiente para muitas concatenações: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new StringBuilder("Java");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sb.append(" é");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sb.append(" incrível!");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System.out.println(sb.toString());  // Java é incrível!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Executando múltiplos statements no JShell com chaves: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a = "Olá";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b = " Mundo";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+ b);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String para valores simples. Use StringBuilder quando precisar de muitas concatenações em loop — mais eficiente!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Expressões &amp; Abreviações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Operandos, comentários, ++/--, operadores compostos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Operadores, Operandos e Expressões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Operador: símbolo especial que realiza uma operação (+, -, *, /, %).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Operando: qualquer objeto manipulado por um operador (variáveis ou literais).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Expressão: combinação de variáveis, literais e operadores que retorna um valor.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Expressão: 15 + 12  →  operandos: 15 e 12  |  operador: +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resultado = 15 + 12;  // resultado = 27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Múltiplos operadores em uma expressão: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92277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total = 50_000L + 10 * (byteVal + shortVal + intVal);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444398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— ignorados pelo compilador, existem para humanos lerem: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Este é um comentário de linha única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" y="534924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8581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Este é um comentário de múltiplas linhas */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Incremento e Decremento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(+1) e decremento (-1) são operações extremamente comuns em programação.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de incrementar — todas produzem o mesmo resultado: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" y="202082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resultado + 1;  // forma longa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+= 1;             // operador composto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resultado++;                // pós-incremento (forma mais compacta)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" y="349300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 de decrementar: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608" y="392277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resultado - 1;  // forma longa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-= 1;             // operador composto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resultado--;                // pós-decremento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2608" y="5349240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538581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antes da variável (++x) vs depois (x++): a diferença importa quando usado em expressões mais complexas.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Compostos de Atribuição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operadores compostos combinam uma operação com a atribuição: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270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5;   // x = x + 5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9842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20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3;   // x = x - 3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4414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2;   // x = x *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28986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35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/= 4;   // x = x / 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3558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924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%= 3;   // x = x % 3  (resto)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3858768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— cast implícito nos operadores compostos: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" y="42702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068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b = 10;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" y="4727448"/>
            <a:ext cx="8558784" cy="402336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640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-= 5.5;  // equivale a: b = (byte)(b - 5.5) — cast implícito!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" y="5184648"/>
            <a:ext cx="8558784" cy="402336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522122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composto faz um cast implícito para o tipo da variável do lado esquerdo. Pode causar resultados inesperados!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Resto (%) e Comentários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operador % (módulo/resto) retorna o resto de uma divisão inteira: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4533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System.out.println(10 % 3);  // 1  (10 = 3×3 + 1)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02082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System.out.println(10 % 5);  // 0  (10 = 5×2 + 0)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System.out.println(7  % 2);  // 1  (7  = 2×3 + 1)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práticos do operador %: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349300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se um número é par: numero % 2 == 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Ciclos: percorrer uma lista circular sem ultrapassar o índice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444398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do + com char — chars são armazenados como números: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a = 'A', b = 'B';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" y="534924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8581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+ b);  // 131 (65+66) — NÃO concatena!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e Conversão de Tipos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explícito, cast implícito e regras de atribuição em Java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precisamos de Casting?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 não converte automaticamente entre tipos numéricos para evitar perda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expressão (byte + short) retorna int por padrão — Java 'amplia' para o tipo maior.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um int a um byte sem cast causa ERRO — o compilador não adivinha o valor.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b = 10;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97180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0837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s = 20;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soma = b + s;       // ❌ ERRO: expressão retorna int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" y="392277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soma = (byte)(b + s);// ✅ cast explícito para byte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444398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literais conhecidos em tempo de compilação: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ok = (byte)(-128 / 2); // Java sabe que -64 cabe em byte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 — Sintaxe e Uso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Casting: informar ao compilador para tratar um valor como se fosse outro tipo: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2423160"/>
          </a:xfrm>
          <a:prstGeom prst="rect">
            <a:avLst/>
          </a:prstGeom>
          <a:solidFill>
            <a:srgbClr val="070F1E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444752"/>
            <a:ext cx="91440" cy="2423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Sintaxe: (tipo) valor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inteiro = 200;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b = (byte) inteiro;   // cast: int → byte (pode perder dados!)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Cast em expressões com tipos menores: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myShortMin = Short.MIN_VALUE;  // -32768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resultado = (short)(myShortMin / 2);  // ✅ cast necessário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double → int (perde a parte decimal):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d = 3.99;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truncado = (int) d;  // truncado = 3 (NÃO arredonda, apenas corta!)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float → uso de cast: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f = (float) 3.14;  // cast de double literal para float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 usando sufixo: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f2 = 3.14f;        // equivalente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4014216"/>
            <a:ext cx="8631936" cy="676656"/>
          </a:xfrm>
          <a:prstGeom prst="rect">
            <a:avLst/>
          </a:prstGeom>
          <a:solidFill>
            <a:srgbClr val="FBBF24">
              <a:alpha val="20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40873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 diz ao compilador: 'eu sei o que estou fazendo'. Mas cuidado — pode causar perda de dados!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Atribuição e Promoção de Tipos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promove automaticamente tipos menores para int em expressões: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4533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a = 5, b = 10;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02082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+ b retorna int, não byte!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soma = (byte)(a + b);  // cast necessário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(alargamento) — ocorre automaticamente, sem cast: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100;    double d = i;  // int → double: OK automático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(estreitamento) — requer cast explícito: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d = 9.9;  int i = (int) d;  // double → int: cast obrigatório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" y="4919472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 de tamanho: byte &lt; short &lt; int &lt; long &lt; float &lt; double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2608" y="5349240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538581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nunca perde dados; Narrowing PODE perder — o cast diz que você assume essa responsabilidade.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vs. Narrowing — Resumo Visual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51560"/>
            <a:ext cx="416052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Widening (automático)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→ short → int → long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20116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→ float ou double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2468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→ double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2926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cast necessário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" y="3383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perde dados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" y="3840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double d = 42; // OK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27448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051560"/>
            <a:ext cx="4160520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Narrowing (requer cast)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1554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→ float → long → int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20116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→ short → byte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4688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 obrigatório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752" y="2926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perder dados/precisão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73752" y="3383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trunca a parte decimal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3840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int i = (int) 9.9; // = 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7400" dirty="0"/>
          </a:p>
        </p:txBody>
      </p:sp>
      <p:sp>
        <p:nvSpPr>
          <p:cNvPr id="4" name="Text 2"/>
          <p:cNvSpPr/>
          <p:nvPr/>
        </p:nvSpPr>
        <p:spPr>
          <a:xfrm>
            <a:off x="32004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28016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Extra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práticas, dicas de certificação e o que vem a seguir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8 Tipos Primitivos — Resumo Completo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  → 8 bits   |  -128 a 127                     |  Byte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 → 16 bits  |  -32.768 a 32.767               |  Short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39696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  → 32 bits  |  ±2,1 × 10⁹    (PADRÃO inteiro)|  Integer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2651760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  → 64 bits  |  ±9,2 × 10¹⁸  |  sufixo L      |  Long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163824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 → 32 bits  |  ±3,4 × 10³⁸  |  sufixo F      |  Float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675888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→ 64 bits  |  ±1,8 × 10³⁰⁸ (PADRÃO decimal) |  Double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4187952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  → 16 bits  |  0 a 65.535 (Unicode)           |  Character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4700016"/>
            <a:ext cx="841248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boolean→ 1 bit    |  true ou false                  |  Boolean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para Certificação Java (OCA/OCP)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Literais numéricos: saiba os tipos padrão — int para inteiros, double para decimais.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4533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f = 3.14;  // ❌ ERRO — 3.14 é double, não float!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02082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f = 3.14f; // ✅ correto — sufixo f obrigatório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542032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não gera exceção em Java — 'gira' silenciosamente.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de double para int trunca (não arredonda): (int) 9.9 == 9, não 10.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349300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compostos (+=) fazem cast implícito — resultado pode surpreender.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é imutável — operações retornam nova String, não modificam a original.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444398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'A' + 'B' = 131 (soma numérica), não "AB" (não é String).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" y="4873752"/>
            <a:ext cx="8558784" cy="418429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91032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os trechos de código com atenção nos exames — diferenças sutis de tipo fazem toda diferença!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para Iniciantes em Java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ponto e vírgula no final do statement: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45336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System.out.println("Olá")  // ❌ falta o 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066544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aspas simples (char) com aspas duplas (String):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" y="2496312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 = "A"; // ❌  |  char c = 'A'; // 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" y="3017520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é case-sensitive — System ≠ system: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" y="3447288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83864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system.out.println("oi"); // ❌  |  System.out.println("oi"); // 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3968496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float sem o sufixo f: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" y="4398264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x = 1.5;  // ❌  |  float x = 1.5f; // 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" y="4919472"/>
            <a:ext cx="84124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Re-declarar variável (fora do JShell):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" y="5349240"/>
            <a:ext cx="8558784" cy="418429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385816"/>
            <a:ext cx="832104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  int x = 10; // ❌ variável já declarada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desde o Início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32520" y="274320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15568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nomes descritivos em camelCase para variáveis e métodos.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" y="1563624"/>
            <a:ext cx="8558784" cy="434523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              // ❌ não descreve o que armazena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2057400"/>
            <a:ext cx="8558784" cy="434523"/>
          </a:xfrm>
          <a:prstGeom prst="rect">
            <a:avLst/>
          </a:prstGeom>
          <a:solidFill>
            <a:srgbClr val="0F1D2E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93976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idadeDoUsuario = 5; // ✅ autoexplicativo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596896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double a float — é o padrão do Java e mais preciso.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3090672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use long quando o valor realmente precisar ultrapassar ~2 bilhões.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3584448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underscore _ em literais longos para legibilidade: 1_000_000.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" y="4078224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comentários // para explicar lógica não-óbvia.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4572000"/>
            <a:ext cx="841248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50" b="1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valores monetários, use BigDecimal — nunca float ou double.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" y="5020056"/>
            <a:ext cx="8558784" cy="434523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5056632"/>
            <a:ext cx="8321040" cy="404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300" dirty="0">
                <a:solidFill>
                  <a:srgbClr val="07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é lido muito mais vezes do que escrito. Clareza &gt; brevidade desde o primeiro dia!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54864" cy="2240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474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Passos em Java — o que você aprendeu: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0817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é case-sensitive e todo statement termina com ; — JShell é o playground perfeito para aprender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836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armazenam dados na RAM; são declaradas com tipo + nome e opcionalmente um valor inicial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9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tem 8 tipos primitivos: byte, short, int, long, float, double, char, boolean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" y="2871216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346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é o padrão para inteiros; double é o padrão para decimais — lembre dos sufixos L e 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" y="3346704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10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Overflow/underflow 'giram' silenciosamente — escolha o tipo de dado correto para evitar surpresas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4048" y="3822192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856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é uma classe especial (imutável); + concatena; StringBuilder é a alternativa mutável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4048" y="4297680"/>
            <a:ext cx="54864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6110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 (int)x converte tipos; widening é automático; narrowing exige cast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— Primeiros Passos em Java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Primeiros Passos em Java</dc:title>
  <dc:subject>PptxGenJS Presentation</dc:subject>
  <dc:creator>Java Masterclass</dc:creator>
  <cp:lastModifiedBy>Java Masterclass</cp:lastModifiedBy>
  <cp:revision>1</cp:revision>
  <dcterms:created xsi:type="dcterms:W3CDTF">2026-04-17T14:06:12Z</dcterms:created>
  <dcterms:modified xsi:type="dcterms:W3CDTF">2026-04-17T14:06:12Z</dcterms:modified>
</cp:coreProperties>
</file>